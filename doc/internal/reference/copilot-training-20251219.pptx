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52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4" r:id="rId16"/>
    <p:sldId id="275" r:id="rId17"/>
    <p:sldId id="276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3" r:id="rId41"/>
    <p:sldId id="306" r:id="rId42"/>
    <p:sldId id="308" r:id="rId43"/>
    <p:sldId id="311" r:id="rId44"/>
    <p:sldId id="313" r:id="rId45"/>
    <p:sldId id="315" r:id="rId46"/>
    <p:sldId id="317" r:id="rId47"/>
    <p:sldId id="319" r:id="rId48"/>
    <p:sldId id="321" r:id="rId49"/>
    <p:sldId id="323" r:id="rId50"/>
    <p:sldId id="331" r:id="rId51"/>
  </p:sldIdLst>
  <p:sldSz cx="12192000" cy="6858000"/>
  <p:notesSz cx="6858000" cy="9144000"/>
  <p:embeddedFontLst>
    <p:embeddedFont>
      <p:font typeface="Roboto Condensed" panose="02000000000000000000" pitchFamily="2" charset="0"/>
      <p:regular r:id="rId53"/>
      <p:bold r:id="rId54"/>
      <p:italic r:id="rId55"/>
      <p:boldItalic r:id="rId56"/>
    </p:embeddedFont>
    <p:embeddedFont>
      <p:font typeface="Roboto Condensed Thin" panose="020B0604020202020204" charset="0"/>
      <p:regular r:id="rId57"/>
      <p:bold r:id="rId58"/>
      <p:italic r:id="rId59"/>
      <p:boldItalic r:id="rId60"/>
    </p:embeddedFont>
    <p:embeddedFont>
      <p:font typeface="Varela Round" panose="00000500000000000000" pitchFamily="2" charset="-79"/>
      <p:regular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2798D-0C64-6A33-E28F-EA567FB78204}" v="26" dt="2025-12-21T23:47:20.704"/>
  </p1510:revLst>
</p1510:revInfo>
</file>

<file path=ppt/tableStyles.xml><?xml version="1.0" encoding="utf-8"?>
<a:tblStyleLst xmlns:a="http://schemas.openxmlformats.org/drawingml/2006/main" def="{97CED8C7-41A4-48AB-9D64-2A2E7227ADA6}">
  <a:tblStyle styleId="{97CED8C7-41A4-48AB-9D64-2A2E7227AD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883A26-C8AD-44DA-B530-93F148C1F29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Moores" userId="S::tmoores@retisio.com::ee581e58-ce7b-4b19-b807-6c19ae774171" providerId="AD" clId="Web-{F3B2798D-0C64-6A33-E28F-EA567FB78204}"/>
    <pc:docChg chg="delSld">
      <pc:chgData name="Tony Moores" userId="S::tmoores@retisio.com::ee581e58-ce7b-4b19-b807-6c19ae774171" providerId="AD" clId="Web-{F3B2798D-0C64-6A33-E28F-EA567FB78204}" dt="2025-12-21T23:47:20.704" v="25"/>
      <pc:docMkLst>
        <pc:docMk/>
      </pc:docMkLst>
      <pc:sldChg chg="del">
        <pc:chgData name="Tony Moores" userId="S::tmoores@retisio.com::ee581e58-ce7b-4b19-b807-6c19ae774171" providerId="AD" clId="Web-{F3B2798D-0C64-6A33-E28F-EA567FB78204}" dt="2025-12-21T23:45:10.946" v="0"/>
        <pc:sldMkLst>
          <pc:docMk/>
          <pc:sldMk cId="0" sldId="258"/>
        </pc:sldMkLst>
      </pc:sldChg>
      <pc:sldChg chg="del">
        <pc:chgData name="Tony Moores" userId="S::tmoores@retisio.com::ee581e58-ce7b-4b19-b807-6c19ae774171" providerId="AD" clId="Web-{F3B2798D-0C64-6A33-E28F-EA567FB78204}" dt="2025-12-21T23:45:18.431" v="1"/>
        <pc:sldMkLst>
          <pc:docMk/>
          <pc:sldMk cId="0" sldId="260"/>
        </pc:sldMkLst>
      </pc:sldChg>
      <pc:sldChg chg="del">
        <pc:chgData name="Tony Moores" userId="S::tmoores@retisio.com::ee581e58-ce7b-4b19-b807-6c19ae774171" providerId="AD" clId="Web-{F3B2798D-0C64-6A33-E28F-EA567FB78204}" dt="2025-12-21T23:45:26.478" v="2"/>
        <pc:sldMkLst>
          <pc:docMk/>
          <pc:sldMk cId="0" sldId="267"/>
        </pc:sldMkLst>
      </pc:sldChg>
      <pc:sldChg chg="del">
        <pc:chgData name="Tony Moores" userId="S::tmoores@retisio.com::ee581e58-ce7b-4b19-b807-6c19ae774171" providerId="AD" clId="Web-{F3B2798D-0C64-6A33-E28F-EA567FB78204}" dt="2025-12-21T23:45:36.635" v="3"/>
        <pc:sldMkLst>
          <pc:docMk/>
          <pc:sldMk cId="0" sldId="272"/>
        </pc:sldMkLst>
      </pc:sldChg>
      <pc:sldChg chg="del">
        <pc:chgData name="Tony Moores" userId="S::tmoores@retisio.com::ee581e58-ce7b-4b19-b807-6c19ae774171" providerId="AD" clId="Web-{F3B2798D-0C64-6A33-E28F-EA567FB78204}" dt="2025-12-21T23:45:46.183" v="4"/>
        <pc:sldMkLst>
          <pc:docMk/>
          <pc:sldMk cId="0" sldId="277"/>
        </pc:sldMkLst>
      </pc:sldChg>
      <pc:sldChg chg="del">
        <pc:chgData name="Tony Moores" userId="S::tmoores@retisio.com::ee581e58-ce7b-4b19-b807-6c19ae774171" providerId="AD" clId="Web-{F3B2798D-0C64-6A33-E28F-EA567FB78204}" dt="2025-12-21T23:45:57.106" v="6"/>
        <pc:sldMkLst>
          <pc:docMk/>
          <pc:sldMk cId="0" sldId="278"/>
        </pc:sldMkLst>
      </pc:sldChg>
      <pc:sldChg chg="del">
        <pc:chgData name="Tony Moores" userId="S::tmoores@retisio.com::ee581e58-ce7b-4b19-b807-6c19ae774171" providerId="AD" clId="Web-{F3B2798D-0C64-6A33-E28F-EA567FB78204}" dt="2025-12-21T23:45:50.105" v="5"/>
        <pc:sldMkLst>
          <pc:docMk/>
          <pc:sldMk cId="0" sldId="279"/>
        </pc:sldMkLst>
      </pc:sldChg>
      <pc:sldChg chg="del">
        <pc:chgData name="Tony Moores" userId="S::tmoores@retisio.com::ee581e58-ce7b-4b19-b807-6c19ae774171" providerId="AD" clId="Web-{F3B2798D-0C64-6A33-E28F-EA567FB78204}" dt="2025-12-21T23:46:27.483" v="7"/>
        <pc:sldMkLst>
          <pc:docMk/>
          <pc:sldMk cId="0" sldId="302"/>
        </pc:sldMkLst>
      </pc:sldChg>
      <pc:sldChg chg="del">
        <pc:chgData name="Tony Moores" userId="S::tmoores@retisio.com::ee581e58-ce7b-4b19-b807-6c19ae774171" providerId="AD" clId="Web-{F3B2798D-0C64-6A33-E28F-EA567FB78204}" dt="2025-12-21T23:46:33.858" v="8"/>
        <pc:sldMkLst>
          <pc:docMk/>
          <pc:sldMk cId="0" sldId="304"/>
        </pc:sldMkLst>
      </pc:sldChg>
      <pc:sldChg chg="del">
        <pc:chgData name="Tony Moores" userId="S::tmoores@retisio.com::ee581e58-ce7b-4b19-b807-6c19ae774171" providerId="AD" clId="Web-{F3B2798D-0C64-6A33-E28F-EA567FB78204}" dt="2025-12-21T23:46:35.186" v="9"/>
        <pc:sldMkLst>
          <pc:docMk/>
          <pc:sldMk cId="0" sldId="305"/>
        </pc:sldMkLst>
      </pc:sldChg>
      <pc:sldChg chg="del">
        <pc:chgData name="Tony Moores" userId="S::tmoores@retisio.com::ee581e58-ce7b-4b19-b807-6c19ae774171" providerId="AD" clId="Web-{F3B2798D-0C64-6A33-E28F-EA567FB78204}" dt="2025-12-21T23:46:38.311" v="10"/>
        <pc:sldMkLst>
          <pc:docMk/>
          <pc:sldMk cId="0" sldId="307"/>
        </pc:sldMkLst>
      </pc:sldChg>
      <pc:sldChg chg="del">
        <pc:chgData name="Tony Moores" userId="S::tmoores@retisio.com::ee581e58-ce7b-4b19-b807-6c19ae774171" providerId="AD" clId="Web-{F3B2798D-0C64-6A33-E28F-EA567FB78204}" dt="2025-12-21T23:46:42.530" v="11"/>
        <pc:sldMkLst>
          <pc:docMk/>
          <pc:sldMk cId="0" sldId="309"/>
        </pc:sldMkLst>
      </pc:sldChg>
      <pc:sldChg chg="del">
        <pc:chgData name="Tony Moores" userId="S::tmoores@retisio.com::ee581e58-ce7b-4b19-b807-6c19ae774171" providerId="AD" clId="Web-{F3B2798D-0C64-6A33-E28F-EA567FB78204}" dt="2025-12-21T23:46:45.796" v="12"/>
        <pc:sldMkLst>
          <pc:docMk/>
          <pc:sldMk cId="0" sldId="310"/>
        </pc:sldMkLst>
      </pc:sldChg>
      <pc:sldChg chg="del">
        <pc:chgData name="Tony Moores" userId="S::tmoores@retisio.com::ee581e58-ce7b-4b19-b807-6c19ae774171" providerId="AD" clId="Web-{F3B2798D-0C64-6A33-E28F-EA567FB78204}" dt="2025-12-21T23:46:48.343" v="13"/>
        <pc:sldMkLst>
          <pc:docMk/>
          <pc:sldMk cId="0" sldId="312"/>
        </pc:sldMkLst>
      </pc:sldChg>
      <pc:sldChg chg="del">
        <pc:chgData name="Tony Moores" userId="S::tmoores@retisio.com::ee581e58-ce7b-4b19-b807-6c19ae774171" providerId="AD" clId="Web-{F3B2798D-0C64-6A33-E28F-EA567FB78204}" dt="2025-12-21T23:46:53.812" v="14"/>
        <pc:sldMkLst>
          <pc:docMk/>
          <pc:sldMk cId="0" sldId="314"/>
        </pc:sldMkLst>
      </pc:sldChg>
      <pc:sldChg chg="del">
        <pc:chgData name="Tony Moores" userId="S::tmoores@retisio.com::ee581e58-ce7b-4b19-b807-6c19ae774171" providerId="AD" clId="Web-{F3B2798D-0C64-6A33-E28F-EA567FB78204}" dt="2025-12-21T23:46:57.078" v="15"/>
        <pc:sldMkLst>
          <pc:docMk/>
          <pc:sldMk cId="0" sldId="316"/>
        </pc:sldMkLst>
      </pc:sldChg>
      <pc:sldChg chg="del">
        <pc:chgData name="Tony Moores" userId="S::tmoores@retisio.com::ee581e58-ce7b-4b19-b807-6c19ae774171" providerId="AD" clId="Web-{F3B2798D-0C64-6A33-E28F-EA567FB78204}" dt="2025-12-21T23:46:59.719" v="16"/>
        <pc:sldMkLst>
          <pc:docMk/>
          <pc:sldMk cId="0" sldId="318"/>
        </pc:sldMkLst>
      </pc:sldChg>
      <pc:sldChg chg="del">
        <pc:chgData name="Tony Moores" userId="S::tmoores@retisio.com::ee581e58-ce7b-4b19-b807-6c19ae774171" providerId="AD" clId="Web-{F3B2798D-0C64-6A33-E28F-EA567FB78204}" dt="2025-12-21T23:47:01.641" v="17"/>
        <pc:sldMkLst>
          <pc:docMk/>
          <pc:sldMk cId="0" sldId="320"/>
        </pc:sldMkLst>
      </pc:sldChg>
      <pc:sldChg chg="del">
        <pc:chgData name="Tony Moores" userId="S::tmoores@retisio.com::ee581e58-ce7b-4b19-b807-6c19ae774171" providerId="AD" clId="Web-{F3B2798D-0C64-6A33-E28F-EA567FB78204}" dt="2025-12-21T23:47:03.938" v="18"/>
        <pc:sldMkLst>
          <pc:docMk/>
          <pc:sldMk cId="0" sldId="322"/>
        </pc:sldMkLst>
      </pc:sldChg>
      <pc:sldChg chg="del">
        <pc:chgData name="Tony Moores" userId="S::tmoores@retisio.com::ee581e58-ce7b-4b19-b807-6c19ae774171" providerId="AD" clId="Web-{F3B2798D-0C64-6A33-E28F-EA567FB78204}" dt="2025-12-21T23:47:05.454" v="19"/>
        <pc:sldMkLst>
          <pc:docMk/>
          <pc:sldMk cId="0" sldId="324"/>
        </pc:sldMkLst>
      </pc:sldChg>
      <pc:sldChg chg="del">
        <pc:chgData name="Tony Moores" userId="S::tmoores@retisio.com::ee581e58-ce7b-4b19-b807-6c19ae774171" providerId="AD" clId="Web-{F3B2798D-0C64-6A33-E28F-EA567FB78204}" dt="2025-12-21T23:47:11.845" v="21"/>
        <pc:sldMkLst>
          <pc:docMk/>
          <pc:sldMk cId="0" sldId="325"/>
        </pc:sldMkLst>
      </pc:sldChg>
      <pc:sldChg chg="del">
        <pc:chgData name="Tony Moores" userId="S::tmoores@retisio.com::ee581e58-ce7b-4b19-b807-6c19ae774171" providerId="AD" clId="Web-{F3B2798D-0C64-6A33-E28F-EA567FB78204}" dt="2025-12-21T23:47:06.876" v="20"/>
        <pc:sldMkLst>
          <pc:docMk/>
          <pc:sldMk cId="0" sldId="326"/>
        </pc:sldMkLst>
      </pc:sldChg>
      <pc:sldChg chg="del">
        <pc:chgData name="Tony Moores" userId="S::tmoores@retisio.com::ee581e58-ce7b-4b19-b807-6c19ae774171" providerId="AD" clId="Web-{F3B2798D-0C64-6A33-E28F-EA567FB78204}" dt="2025-12-21T23:47:16.454" v="22"/>
        <pc:sldMkLst>
          <pc:docMk/>
          <pc:sldMk cId="0" sldId="327"/>
        </pc:sldMkLst>
      </pc:sldChg>
      <pc:sldChg chg="del">
        <pc:chgData name="Tony Moores" userId="S::tmoores@retisio.com::ee581e58-ce7b-4b19-b807-6c19ae774171" providerId="AD" clId="Web-{F3B2798D-0C64-6A33-E28F-EA567FB78204}" dt="2025-12-21T23:47:18.486" v="23"/>
        <pc:sldMkLst>
          <pc:docMk/>
          <pc:sldMk cId="0" sldId="328"/>
        </pc:sldMkLst>
      </pc:sldChg>
      <pc:sldChg chg="del">
        <pc:chgData name="Tony Moores" userId="S::tmoores@retisio.com::ee581e58-ce7b-4b19-b807-6c19ae774171" providerId="AD" clId="Web-{F3B2798D-0C64-6A33-E28F-EA567FB78204}" dt="2025-12-21T23:47:19.658" v="24"/>
        <pc:sldMkLst>
          <pc:docMk/>
          <pc:sldMk cId="0" sldId="329"/>
        </pc:sldMkLst>
      </pc:sldChg>
      <pc:sldChg chg="del">
        <pc:chgData name="Tony Moores" userId="S::tmoores@retisio.com::ee581e58-ce7b-4b19-b807-6c19ae774171" providerId="AD" clId="Web-{F3B2798D-0C64-6A33-E28F-EA567FB78204}" dt="2025-12-21T23:47:20.704" v="25"/>
        <pc:sldMkLst>
          <pc:docMk/>
          <pc:sldMk cId="0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12d79683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12d796831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912d796831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12d7968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12d796831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912d796831_0_1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12d796831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12d796831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912d796831_0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12d796831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12d796831_0_1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912d796831_0_1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d5f15eb60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d5f15eb60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ad5f15eb60_0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d5f15eb60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d5f15eb60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ad5f15eb60_0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2d79683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912d7968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d5f15eb60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d5f15eb60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ad5f15eb60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d5f15eb6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d5f15eb60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ad5f15eb60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d5f15eb6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d5f15eb60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ad5f15eb60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179e944f0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9179e944f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179e944f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179e944f0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9179e944f0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179e944f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179e944f0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9179e944f0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179e944f0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179e944f0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9179e944f0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179e944f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179e944f0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9179e944f0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179e944f0_0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9179e944f0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179e944f0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179e944f0_0_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9179e944f0_0_2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179e944f0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179e944f0_0_3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9179e944f0_0_3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179e944f0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179e944f0_0_3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9179e944f0_0_3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d5f15eb60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d5f15eb60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ad5f15eb60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179e944f0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9179e944f0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39179e944f0_0_2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179e944f0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179e944f0_0_2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g39179e944f0_0_2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179e944f0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9179e944f0_0_3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9179e944f0_0_3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179e944f0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179e944f0_0_3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39179e944f0_0_3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f3f72186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f3f72186b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3af3f72186b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0f5a0b7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0f5a0b71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3b0f5a0b71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f3f72186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f3f72186b_1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g3af3f72186b_1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0f5a0b7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b0f5a0b71e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b0f5a0b71e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0f5a0b71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b0f5a0b71e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3b0f5a0b71e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0f5a0b71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b0f5a0b71e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3b0f5a0b71e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0f5a0b71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b0f5a0b71e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g3b0f5a0b71e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0f5a0b71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b0f5a0b71e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b0f5a0b71e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0f5a0b71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0f5a0b71e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b0f5a0b71e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1809a9a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1809a9a5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b1809a9a5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1809a9a5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1809a9a5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g3b1809a9a55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912d796831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3912d7968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f3f72186b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f3f72186b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af3f72186b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912d796831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912d796831_0_3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3912d796831_0_3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912d796831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g3912d79683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912d79683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g3912d79683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912d796831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3912d79683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912d796831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912d79683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912d796831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912d79683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912d796831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3912d79683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912d796831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g3912d79683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912d796831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g3912d79683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912d796831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3912d79683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-Title Slide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14288" y="-25398"/>
            <a:ext cx="12206288" cy="4725985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831850" y="485776"/>
            <a:ext cx="7783513" cy="408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Varela Round"/>
              <a:buNone/>
              <a:defRPr sz="4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831850" y="4813294"/>
            <a:ext cx="7783513" cy="147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0" i="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CA5"/>
              </a:buClr>
              <a:buSzPts val="2000"/>
              <a:buNone/>
              <a:defRPr sz="2000">
                <a:solidFill>
                  <a:srgbClr val="888CA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CA5"/>
              </a:buClr>
              <a:buSzPts val="1800"/>
              <a:buNone/>
              <a:defRPr sz="1800">
                <a:solidFill>
                  <a:srgbClr val="888CA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CA5"/>
              </a:buClr>
              <a:buSzPts val="1600"/>
              <a:buNone/>
              <a:defRPr sz="1600">
                <a:solidFill>
                  <a:srgbClr val="888CA5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19600" y="674398"/>
            <a:ext cx="7772400" cy="3326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075" y="384219"/>
            <a:ext cx="1980366" cy="973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-14288" y="4623128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" name="Google Shape;19;p2"/>
          <p:cNvCxnSpPr/>
          <p:nvPr/>
        </p:nvCxnSpPr>
        <p:spPr>
          <a:xfrm>
            <a:off x="-14288" y="4656441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-14289" y="4689012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219204"/>
            <a:ext cx="5181600" cy="490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219204"/>
            <a:ext cx="5181600" cy="490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" name="Google Shape;31;p3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" name="Google Shape;32;p3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Section Header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61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-14288" y="-25398"/>
            <a:ext cx="6586027" cy="6883398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9020" y="-24089"/>
            <a:ext cx="5407534" cy="231428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33829" y="5295455"/>
            <a:ext cx="653791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Accelerate Revenue Growth</a:t>
            </a:r>
            <a:endParaRPr/>
          </a:p>
        </p:txBody>
      </p:sp>
      <p:pic>
        <p:nvPicPr>
          <p:cNvPr id="38" name="Google Shape;38;p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7309" y="5873593"/>
            <a:ext cx="1637238" cy="8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-Blank">
  <p:cSld name="11-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-Headline">
  <p:cSld name="00-Headlin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-14288" y="-25398"/>
            <a:ext cx="12206288" cy="1156040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43" name="Google Shape;43;p6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27949"/>
            <a:ext cx="1637238" cy="8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2475438" y="351058"/>
            <a:ext cx="8878362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5931180" y="1147055"/>
            <a:ext cx="6172200" cy="5719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8200" y="1437789"/>
            <a:ext cx="5092980" cy="258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838200" y="4021018"/>
            <a:ext cx="5092980" cy="258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a-Capabilities and Outcomes">
  <p:cSld name="00a-Capabilities and Outcome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-14288" y="-25398"/>
            <a:ext cx="12206288" cy="1156040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50" name="Google Shape;50;p7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27949"/>
            <a:ext cx="1637238" cy="8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2475438" y="351058"/>
            <a:ext cx="8878362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5931180" y="1147055"/>
            <a:ext cx="6172200" cy="5719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838200" y="1437789"/>
            <a:ext cx="5092980" cy="258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838200" y="4021018"/>
            <a:ext cx="5092980" cy="258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Varela Round"/>
              <a:buNone/>
              <a:defRPr sz="16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6019801" y="1138075"/>
            <a:ext cx="6172200" cy="57199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6302271" y="4727233"/>
            <a:ext cx="279604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A3838"/>
                </a:solidFill>
                <a:latin typeface="Varela Round"/>
                <a:ea typeface="Varela Round"/>
                <a:cs typeface="Varela Round"/>
                <a:sym typeface="Varela Round"/>
              </a:rPr>
              <a:t>DRIVES </a:t>
            </a:r>
            <a:r>
              <a:rPr lang="en-US" sz="1600" b="0" i="0" u="none" strike="noStrike" cap="none">
                <a:solidFill>
                  <a:srgbClr val="0B9855"/>
                </a:solidFill>
                <a:latin typeface="Varela Round"/>
                <a:ea typeface="Varela Round"/>
                <a:cs typeface="Varela Round"/>
                <a:sym typeface="Varela Round"/>
              </a:rPr>
              <a:t>OUTCOMES</a:t>
            </a:r>
            <a:endParaRPr/>
          </a:p>
        </p:txBody>
      </p:sp>
      <p:cxnSp>
        <p:nvCxnSpPr>
          <p:cNvPr id="57" name="Google Shape;57;p7"/>
          <p:cNvCxnSpPr/>
          <p:nvPr/>
        </p:nvCxnSpPr>
        <p:spPr>
          <a:xfrm>
            <a:off x="6302271" y="5112799"/>
            <a:ext cx="5004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p7"/>
          <p:cNvSpPr txBox="1"/>
          <p:nvPr/>
        </p:nvSpPr>
        <p:spPr>
          <a:xfrm>
            <a:off x="6302271" y="1388063"/>
            <a:ext cx="279604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A3838"/>
                </a:solidFill>
                <a:latin typeface="Varela Round"/>
                <a:ea typeface="Varela Round"/>
                <a:cs typeface="Varela Round"/>
                <a:sym typeface="Varela Round"/>
              </a:rPr>
              <a:t>KEY </a:t>
            </a:r>
            <a:r>
              <a:rPr lang="en-US" sz="1600" b="0" i="0" u="none" strike="noStrike" cap="none">
                <a:solidFill>
                  <a:srgbClr val="0B9855"/>
                </a:solidFill>
                <a:latin typeface="Varela Round"/>
                <a:ea typeface="Varela Round"/>
                <a:cs typeface="Varela Round"/>
                <a:sym typeface="Varela Round"/>
              </a:rPr>
              <a:t>CAPABILITIES</a:t>
            </a:r>
            <a:endParaRPr/>
          </a:p>
        </p:txBody>
      </p:sp>
      <p:cxnSp>
        <p:nvCxnSpPr>
          <p:cNvPr id="59" name="Google Shape;59;p7"/>
          <p:cNvCxnSpPr/>
          <p:nvPr/>
        </p:nvCxnSpPr>
        <p:spPr>
          <a:xfrm>
            <a:off x="6302271" y="1773628"/>
            <a:ext cx="5004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7"/>
          <p:cNvSpPr>
            <a:spLocks noGrp="1"/>
          </p:cNvSpPr>
          <p:nvPr>
            <p:ph type="pic" idx="3"/>
          </p:nvPr>
        </p:nvSpPr>
        <p:spPr>
          <a:xfrm>
            <a:off x="6180036" y="3978646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 txBox="1">
            <a:spLocks noGrp="1"/>
          </p:cNvSpPr>
          <p:nvPr>
            <p:ph type="body" idx="4"/>
          </p:nvPr>
        </p:nvSpPr>
        <p:spPr>
          <a:xfrm>
            <a:off x="6703267" y="3823073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5"/>
          </p:nvPr>
        </p:nvSpPr>
        <p:spPr>
          <a:xfrm>
            <a:off x="6709487" y="4059735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>
            <a:spLocks noGrp="1"/>
          </p:cNvSpPr>
          <p:nvPr>
            <p:ph type="pic" idx="6"/>
          </p:nvPr>
        </p:nvSpPr>
        <p:spPr>
          <a:xfrm>
            <a:off x="9140571" y="3981165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 txBox="1">
            <a:spLocks noGrp="1"/>
          </p:cNvSpPr>
          <p:nvPr>
            <p:ph type="body" idx="7"/>
          </p:nvPr>
        </p:nvSpPr>
        <p:spPr>
          <a:xfrm>
            <a:off x="9686391" y="3825305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body" idx="8"/>
          </p:nvPr>
        </p:nvSpPr>
        <p:spPr>
          <a:xfrm>
            <a:off x="9670022" y="4062254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>
            <a:spLocks noGrp="1"/>
          </p:cNvSpPr>
          <p:nvPr>
            <p:ph type="pic" idx="9"/>
          </p:nvPr>
        </p:nvSpPr>
        <p:spPr>
          <a:xfrm>
            <a:off x="6163667" y="2045601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"/>
          <p:cNvSpPr txBox="1">
            <a:spLocks noGrp="1"/>
          </p:cNvSpPr>
          <p:nvPr>
            <p:ph type="body" idx="13"/>
          </p:nvPr>
        </p:nvSpPr>
        <p:spPr>
          <a:xfrm>
            <a:off x="6686898" y="1890028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4"/>
          </p:nvPr>
        </p:nvSpPr>
        <p:spPr>
          <a:xfrm>
            <a:off x="6693118" y="2126690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>
            <a:spLocks noGrp="1"/>
          </p:cNvSpPr>
          <p:nvPr>
            <p:ph type="pic" idx="15"/>
          </p:nvPr>
        </p:nvSpPr>
        <p:spPr>
          <a:xfrm>
            <a:off x="9124202" y="2048120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7"/>
          <p:cNvSpPr txBox="1">
            <a:spLocks noGrp="1"/>
          </p:cNvSpPr>
          <p:nvPr>
            <p:ph type="body" idx="16"/>
          </p:nvPr>
        </p:nvSpPr>
        <p:spPr>
          <a:xfrm>
            <a:off x="9670022" y="1892260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7"/>
          </p:nvPr>
        </p:nvSpPr>
        <p:spPr>
          <a:xfrm>
            <a:off x="9653653" y="2129209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18"/>
          </p:nvPr>
        </p:nvSpPr>
        <p:spPr>
          <a:xfrm>
            <a:off x="6163667" y="297735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 txBox="1">
            <a:spLocks noGrp="1"/>
          </p:cNvSpPr>
          <p:nvPr>
            <p:ph type="body" idx="19"/>
          </p:nvPr>
        </p:nvSpPr>
        <p:spPr>
          <a:xfrm>
            <a:off x="6686898" y="2821785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body" idx="20"/>
          </p:nvPr>
        </p:nvSpPr>
        <p:spPr>
          <a:xfrm>
            <a:off x="6693118" y="3058447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>
            <a:spLocks noGrp="1"/>
          </p:cNvSpPr>
          <p:nvPr>
            <p:ph type="pic" idx="21"/>
          </p:nvPr>
        </p:nvSpPr>
        <p:spPr>
          <a:xfrm>
            <a:off x="9124202" y="2979877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7"/>
          <p:cNvSpPr txBox="1">
            <a:spLocks noGrp="1"/>
          </p:cNvSpPr>
          <p:nvPr>
            <p:ph type="body" idx="22"/>
          </p:nvPr>
        </p:nvSpPr>
        <p:spPr>
          <a:xfrm>
            <a:off x="9670022" y="2824017"/>
            <a:ext cx="2217177" cy="22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23"/>
          </p:nvPr>
        </p:nvSpPr>
        <p:spPr>
          <a:xfrm>
            <a:off x="9653653" y="3060966"/>
            <a:ext cx="2217177" cy="54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800"/>
              <a:buNone/>
              <a:defRPr sz="800" b="0" i="0">
                <a:solidFill>
                  <a:srgbClr val="171616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>
            <a:spLocks noGrp="1"/>
          </p:cNvSpPr>
          <p:nvPr>
            <p:ph type="pic" idx="24"/>
          </p:nvPr>
        </p:nvSpPr>
        <p:spPr>
          <a:xfrm>
            <a:off x="6173816" y="5150693"/>
            <a:ext cx="365760" cy="36576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7"/>
          <p:cNvSpPr txBox="1">
            <a:spLocks noGrp="1"/>
          </p:cNvSpPr>
          <p:nvPr>
            <p:ph type="body" idx="25"/>
          </p:nvPr>
        </p:nvSpPr>
        <p:spPr>
          <a:xfrm>
            <a:off x="6693591" y="5150437"/>
            <a:ext cx="5409789" cy="36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7"/>
          <p:cNvSpPr>
            <a:spLocks noGrp="1"/>
          </p:cNvSpPr>
          <p:nvPr>
            <p:ph type="pic" idx="26"/>
          </p:nvPr>
        </p:nvSpPr>
        <p:spPr>
          <a:xfrm>
            <a:off x="6173816" y="5599979"/>
            <a:ext cx="365760" cy="36576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7"/>
          <p:cNvSpPr txBox="1">
            <a:spLocks noGrp="1"/>
          </p:cNvSpPr>
          <p:nvPr>
            <p:ph type="body" idx="27"/>
          </p:nvPr>
        </p:nvSpPr>
        <p:spPr>
          <a:xfrm>
            <a:off x="6686898" y="5599979"/>
            <a:ext cx="5409789" cy="36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>
            <a:spLocks noGrp="1"/>
          </p:cNvSpPr>
          <p:nvPr>
            <p:ph type="pic" idx="28"/>
          </p:nvPr>
        </p:nvSpPr>
        <p:spPr>
          <a:xfrm>
            <a:off x="6173816" y="6049265"/>
            <a:ext cx="365760" cy="36576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"/>
          <p:cNvSpPr txBox="1">
            <a:spLocks noGrp="1"/>
          </p:cNvSpPr>
          <p:nvPr>
            <p:ph type="body" idx="29"/>
          </p:nvPr>
        </p:nvSpPr>
        <p:spPr>
          <a:xfrm>
            <a:off x="6686898" y="6048753"/>
            <a:ext cx="5409789" cy="36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30"/>
          </p:nvPr>
        </p:nvSpPr>
        <p:spPr>
          <a:xfrm>
            <a:off x="6173816" y="6498550"/>
            <a:ext cx="365760" cy="36576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7"/>
          <p:cNvSpPr txBox="1">
            <a:spLocks noGrp="1"/>
          </p:cNvSpPr>
          <p:nvPr>
            <p:ph type="body" idx="31"/>
          </p:nvPr>
        </p:nvSpPr>
        <p:spPr>
          <a:xfrm>
            <a:off x="6693591" y="6498294"/>
            <a:ext cx="5409789" cy="36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a-Section Header Blank">
  <p:cSld name="1a-Section Header 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-14288" y="-25398"/>
            <a:ext cx="6586027" cy="6883398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9020" y="-24089"/>
            <a:ext cx="5407534" cy="231428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 txBox="1"/>
          <p:nvPr/>
        </p:nvSpPr>
        <p:spPr>
          <a:xfrm>
            <a:off x="33829" y="5295455"/>
            <a:ext cx="653791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Accelerate Revenue Growth</a:t>
            </a:r>
            <a:endParaRPr/>
          </a:p>
        </p:txBody>
      </p:sp>
      <p:pic>
        <p:nvPicPr>
          <p:cNvPr id="90" name="Google Shape;90;p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7309" y="5873593"/>
            <a:ext cx="1637238" cy="80449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Title and Content">
  <p:cSld name="2-Title and Conten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9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9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2" name="Google Shape;102;p9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Two Content Titled">
  <p:cSld name="4-Two Content Titled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839788" y="1160463"/>
            <a:ext cx="5157787" cy="414337"/>
          </a:xfrm>
          <a:prstGeom prst="rect">
            <a:avLst/>
          </a:prstGeom>
          <a:solidFill>
            <a:srgbClr val="203C7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2"/>
          </p:nvPr>
        </p:nvSpPr>
        <p:spPr>
          <a:xfrm>
            <a:off x="839788" y="1574800"/>
            <a:ext cx="5157787" cy="452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body" idx="3"/>
          </p:nvPr>
        </p:nvSpPr>
        <p:spPr>
          <a:xfrm>
            <a:off x="6172200" y="1160463"/>
            <a:ext cx="5183188" cy="414337"/>
          </a:xfrm>
          <a:prstGeom prst="rect">
            <a:avLst/>
          </a:prstGeom>
          <a:solidFill>
            <a:srgbClr val="0B9855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4"/>
          </p:nvPr>
        </p:nvSpPr>
        <p:spPr>
          <a:xfrm>
            <a:off x="6172200" y="1574800"/>
            <a:ext cx="5183188" cy="452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0" name="Google Shape;110;p10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0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10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Three Content Titled">
  <p:cSld name="5-Three Content Titled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>
            <a:spLocks noGrp="1"/>
          </p:cNvSpPr>
          <p:nvPr>
            <p:ph type="body" idx="1"/>
          </p:nvPr>
        </p:nvSpPr>
        <p:spPr>
          <a:xfrm>
            <a:off x="838200" y="1160463"/>
            <a:ext cx="3209029" cy="414337"/>
          </a:xfrm>
          <a:prstGeom prst="rect">
            <a:avLst/>
          </a:prstGeom>
          <a:solidFill>
            <a:srgbClr val="213C7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2"/>
          </p:nvPr>
        </p:nvSpPr>
        <p:spPr>
          <a:xfrm>
            <a:off x="838200" y="1574800"/>
            <a:ext cx="3209029" cy="450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3"/>
          </p:nvPr>
        </p:nvSpPr>
        <p:spPr>
          <a:xfrm>
            <a:off x="4474886" y="1160463"/>
            <a:ext cx="3224833" cy="414337"/>
          </a:xfrm>
          <a:prstGeom prst="rect">
            <a:avLst/>
          </a:prstGeom>
          <a:solidFill>
            <a:srgbClr val="156763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body" idx="4"/>
          </p:nvPr>
        </p:nvSpPr>
        <p:spPr>
          <a:xfrm>
            <a:off x="4474886" y="1574800"/>
            <a:ext cx="3224833" cy="450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1"/>
          <p:cNvSpPr txBox="1">
            <a:spLocks noGrp="1"/>
          </p:cNvSpPr>
          <p:nvPr>
            <p:ph type="body" idx="5"/>
          </p:nvPr>
        </p:nvSpPr>
        <p:spPr>
          <a:xfrm>
            <a:off x="8127377" y="1160463"/>
            <a:ext cx="3224833" cy="414337"/>
          </a:xfrm>
          <a:prstGeom prst="rect">
            <a:avLst/>
          </a:prstGeom>
          <a:solidFill>
            <a:srgbClr val="0B9855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1"/>
          <p:cNvSpPr txBox="1">
            <a:spLocks noGrp="1"/>
          </p:cNvSpPr>
          <p:nvPr>
            <p:ph type="body" idx="6"/>
          </p:nvPr>
        </p:nvSpPr>
        <p:spPr>
          <a:xfrm>
            <a:off x="8127377" y="1574800"/>
            <a:ext cx="3224833" cy="450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26" name="Google Shape;126;p11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p11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1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" name="Google Shape;131;p11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11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Four Content Titled">
  <p:cSld name="6-Four Content Titled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body" idx="1"/>
          </p:nvPr>
        </p:nvSpPr>
        <p:spPr>
          <a:xfrm>
            <a:off x="838201" y="1160463"/>
            <a:ext cx="2553448" cy="414337"/>
          </a:xfrm>
          <a:prstGeom prst="rect">
            <a:avLst/>
          </a:prstGeom>
          <a:solidFill>
            <a:srgbClr val="203C70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5" name="Google Shape;135;p12"/>
          <p:cNvSpPr txBox="1">
            <a:spLocks noGrp="1"/>
          </p:cNvSpPr>
          <p:nvPr>
            <p:ph type="body" idx="2"/>
          </p:nvPr>
        </p:nvSpPr>
        <p:spPr>
          <a:xfrm>
            <a:off x="838201" y="1574800"/>
            <a:ext cx="2553448" cy="446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2"/>
          <p:cNvSpPr txBox="1">
            <a:spLocks noGrp="1"/>
          </p:cNvSpPr>
          <p:nvPr>
            <p:ph type="body" idx="3"/>
          </p:nvPr>
        </p:nvSpPr>
        <p:spPr>
          <a:xfrm>
            <a:off x="3479676" y="1160463"/>
            <a:ext cx="2566023" cy="414337"/>
          </a:xfrm>
          <a:prstGeom prst="rect">
            <a:avLst/>
          </a:prstGeom>
          <a:solidFill>
            <a:srgbClr val="185D66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7" name="Google Shape;137;p12"/>
          <p:cNvSpPr txBox="1">
            <a:spLocks noGrp="1"/>
          </p:cNvSpPr>
          <p:nvPr>
            <p:ph type="body" idx="4"/>
          </p:nvPr>
        </p:nvSpPr>
        <p:spPr>
          <a:xfrm>
            <a:off x="3479676" y="1574800"/>
            <a:ext cx="2566023" cy="446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body" idx="5"/>
          </p:nvPr>
        </p:nvSpPr>
        <p:spPr>
          <a:xfrm>
            <a:off x="6133726" y="1160463"/>
            <a:ext cx="2566023" cy="414337"/>
          </a:xfrm>
          <a:prstGeom prst="rect">
            <a:avLst/>
          </a:prstGeom>
          <a:solidFill>
            <a:srgbClr val="15735F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body" idx="6"/>
          </p:nvPr>
        </p:nvSpPr>
        <p:spPr>
          <a:xfrm>
            <a:off x="6133726" y="1574800"/>
            <a:ext cx="2566023" cy="446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7"/>
          </p:nvPr>
        </p:nvSpPr>
        <p:spPr>
          <a:xfrm>
            <a:off x="8787776" y="1160463"/>
            <a:ext cx="2566023" cy="414337"/>
          </a:xfrm>
          <a:prstGeom prst="rect">
            <a:avLst/>
          </a:prstGeom>
          <a:solidFill>
            <a:srgbClr val="0B9855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8"/>
          </p:nvPr>
        </p:nvSpPr>
        <p:spPr>
          <a:xfrm>
            <a:off x="8787776" y="1574800"/>
            <a:ext cx="2566023" cy="446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4" name="Google Shape;144;p12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1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2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12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12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SWOT">
  <p:cSld name="7-SWO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5511801" y="2882127"/>
            <a:ext cx="1168400" cy="1168400"/>
          </a:xfrm>
          <a:prstGeom prst="pie">
            <a:avLst>
              <a:gd name="adj1" fmla="val 10836119"/>
              <a:gd name="adj2" fmla="val 16200000"/>
            </a:avLst>
          </a:prstGeom>
          <a:solidFill>
            <a:schemeClr val="accent1"/>
          </a:solidFill>
          <a:ln w="12700" cap="flat" cmpd="sng">
            <a:solidFill>
              <a:srgbClr val="172B5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S</a:t>
            </a: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5511801" y="2888864"/>
            <a:ext cx="1168400" cy="1168400"/>
          </a:xfrm>
          <a:prstGeom prst="pie">
            <a:avLst>
              <a:gd name="adj1" fmla="val 16202994"/>
              <a:gd name="adj2" fmla="val 21599999"/>
            </a:avLst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W</a:t>
            </a: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5511801" y="2882127"/>
            <a:ext cx="1168400" cy="1168400"/>
          </a:xfrm>
          <a:prstGeom prst="pie">
            <a:avLst>
              <a:gd name="adj1" fmla="val 5399862"/>
              <a:gd name="adj2" fmla="val 10800000"/>
            </a:avLst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T</a:t>
            </a: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5511801" y="2888864"/>
            <a:ext cx="1168400" cy="1168400"/>
          </a:xfrm>
          <a:prstGeom prst="pie">
            <a:avLst>
              <a:gd name="adj1" fmla="val 21599999"/>
              <a:gd name="adj2" fmla="val 540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O</a:t>
            </a: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body" idx="1"/>
          </p:nvPr>
        </p:nvSpPr>
        <p:spPr>
          <a:xfrm>
            <a:off x="838200" y="1050925"/>
            <a:ext cx="5257800" cy="2390775"/>
          </a:xfrm>
          <a:prstGeom prst="rect">
            <a:avLst/>
          </a:prstGeom>
          <a:solidFill>
            <a:srgbClr val="2EB14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2"/>
          </p:nvPr>
        </p:nvSpPr>
        <p:spPr>
          <a:xfrm>
            <a:off x="6096000" y="1050925"/>
            <a:ext cx="5257802" cy="2390775"/>
          </a:xfrm>
          <a:prstGeom prst="rect">
            <a:avLst/>
          </a:prstGeom>
          <a:solidFill>
            <a:srgbClr val="EC1F23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55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body" idx="3"/>
          </p:nvPr>
        </p:nvSpPr>
        <p:spPr>
          <a:xfrm>
            <a:off x="838200" y="3479027"/>
            <a:ext cx="5257800" cy="2390775"/>
          </a:xfrm>
          <a:prstGeom prst="rect">
            <a:avLst/>
          </a:prstGeom>
          <a:solidFill>
            <a:srgbClr val="FCC010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body" idx="4"/>
          </p:nvPr>
        </p:nvSpPr>
        <p:spPr>
          <a:xfrm>
            <a:off x="6096000" y="3441701"/>
            <a:ext cx="5257802" cy="2428102"/>
          </a:xfrm>
          <a:prstGeom prst="rect">
            <a:avLst/>
          </a:prstGeom>
          <a:solidFill>
            <a:srgbClr val="002C74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381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55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 i="0"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42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 i="0"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 i="0"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2" name="Google Shape;162;p13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4" name="Google Shape;164;p1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13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" name="Google Shape;167;p13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8" name="Google Shape;168;p13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Title and Footer Only" type="titleOnly">
  <p:cSld name="TITLE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72" name="Google Shape;172;p14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14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4" name="Google Shape;174;p14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4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7" name="Google Shape;177;p14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8" name="Google Shape;178;p14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Footer Only">
  <p:cSld name="9-Footer Onl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/>
          <p:nvPr/>
        </p:nvSpPr>
        <p:spPr>
          <a:xfrm>
            <a:off x="-157163" y="6265609"/>
            <a:ext cx="12363451" cy="635772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1" name="Google Shape;181;p15"/>
          <p:cNvSpPr txBox="1">
            <a:spLocks noGrp="1"/>
          </p:cNvSpPr>
          <p:nvPr>
            <p:ph type="ftr" idx="11"/>
          </p:nvPr>
        </p:nvSpPr>
        <p:spPr>
          <a:xfrm>
            <a:off x="2152650" y="6428640"/>
            <a:ext cx="6000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sldNum" idx="12"/>
          </p:nvPr>
        </p:nvSpPr>
        <p:spPr>
          <a:xfrm>
            <a:off x="8610600" y="6428640"/>
            <a:ext cx="1955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p15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801" y="6321023"/>
            <a:ext cx="1181100" cy="580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4813" y="6259587"/>
            <a:ext cx="1576386" cy="67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5"/>
          <p:cNvCxnSpPr/>
          <p:nvPr/>
        </p:nvCxnSpPr>
        <p:spPr>
          <a:xfrm>
            <a:off x="-157162" y="6202733"/>
            <a:ext cx="36576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186;p15"/>
          <p:cNvCxnSpPr/>
          <p:nvPr/>
        </p:nvCxnSpPr>
        <p:spPr>
          <a:xfrm>
            <a:off x="-157162" y="6236046"/>
            <a:ext cx="64008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187;p15"/>
          <p:cNvCxnSpPr/>
          <p:nvPr/>
        </p:nvCxnSpPr>
        <p:spPr>
          <a:xfrm>
            <a:off x="-157163" y="6268617"/>
            <a:ext cx="128016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Title Only">
  <p:cSld name="10-Title 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b="0" i="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a-Graded Title Only">
  <p:cSld name="10a-Graded Title Only">
    <p:bg>
      <p:bgPr>
        <a:gradFill>
          <a:gsLst>
            <a:gs pos="0">
              <a:srgbClr val="213C70"/>
            </a:gs>
            <a:gs pos="6000">
              <a:srgbClr val="213C70"/>
            </a:gs>
            <a:gs pos="100000">
              <a:srgbClr val="0B9855"/>
            </a:gs>
          </a:gsLst>
          <a:lin ang="0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a-Graded Blank">
  <p:cSld name="11a-Graded Blank">
    <p:bg>
      <p:bgPr>
        <a:gradFill>
          <a:gsLst>
            <a:gs pos="0">
              <a:srgbClr val="213C70"/>
            </a:gs>
            <a:gs pos="6000">
              <a:srgbClr val="213C70"/>
            </a:gs>
            <a:gs pos="100000">
              <a:srgbClr val="0B9855"/>
            </a:gs>
          </a:gsLst>
          <a:lin ang="0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-Closer">
  <p:cSld name="99-Closer">
    <p:bg>
      <p:bgPr>
        <a:gradFill>
          <a:gsLst>
            <a:gs pos="0">
              <a:srgbClr val="213C70"/>
            </a:gs>
            <a:gs pos="6000">
              <a:srgbClr val="213C70"/>
            </a:gs>
            <a:gs pos="100000">
              <a:srgbClr val="0B9855"/>
            </a:gs>
          </a:gsLst>
          <a:lin ang="0" scaled="0"/>
        </a:gra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1185" y="716745"/>
            <a:ext cx="10022115" cy="428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0309" y="5482009"/>
            <a:ext cx="2431382" cy="119471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>
            <a:spLocks noGrp="1"/>
          </p:cNvSpPr>
          <p:nvPr>
            <p:ph type="title"/>
          </p:nvPr>
        </p:nvSpPr>
        <p:spPr>
          <a:xfrm>
            <a:off x="765215" y="4926098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arela Round"/>
              <a:buNone/>
              <a:defRPr b="0" i="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arela Round"/>
              <a:buNone/>
              <a:defRPr sz="36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adr-058-nextjs-with-ant-design-for-frontend.md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mill-scala3-java21-build-guide.md" TargetMode="External"/><Relationship Id="rId4" Type="http://schemas.openxmlformats.org/officeDocument/2006/relationships/hyperlink" Target="http://pol-027-jvm-language-choice-java-17-plus-or-scala-3-plus.md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831850" y="485776"/>
            <a:ext cx="8007350" cy="408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Varela Round"/>
              <a:buNone/>
            </a:pPr>
            <a:r>
              <a:rPr lang="en-US"/>
              <a:t>RETISIO Inc.</a:t>
            </a:r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831850" y="4813294"/>
            <a:ext cx="7783513" cy="147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en-US">
                <a:latin typeface="Varela Round"/>
                <a:ea typeface="Varela Round"/>
                <a:cs typeface="Varela Round"/>
                <a:sym typeface="Varela Round"/>
              </a:rPr>
              <a:t>Adopting Copilot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3C70"/>
              </a:buClr>
              <a:buSzPct val="100000"/>
              <a:buNone/>
            </a:pPr>
            <a:r>
              <a:rPr lang="en-US" sz="1600" u="none" strike="noStrike" cap="none">
                <a:solidFill>
                  <a:srgbClr val="203C70"/>
                </a:solidFill>
                <a:latin typeface="Varela Round"/>
                <a:ea typeface="Varela Round"/>
                <a:cs typeface="Varela Round"/>
                <a:sym typeface="Varela Round"/>
              </a:rPr>
              <a:t>Pair Programming with LLMs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3C70"/>
              </a:buClr>
              <a:buSzPct val="100000"/>
              <a:buNone/>
            </a:pPr>
            <a:r>
              <a:rPr lang="en-US" sz="1600" u="none" strike="noStrike" cap="none">
                <a:solidFill>
                  <a:srgbClr val="203C70"/>
                </a:solidFill>
                <a:latin typeface="Varela Round"/>
                <a:ea typeface="Varela Round"/>
                <a:cs typeface="Varela Round"/>
                <a:sym typeface="Varela Round"/>
              </a:rPr>
              <a:t>Updated: </a:t>
            </a:r>
            <a:r>
              <a:rPr lang="en-US" sz="1600">
                <a:solidFill>
                  <a:srgbClr val="203C70"/>
                </a:solidFill>
              </a:rPr>
              <a:t>December</a:t>
            </a:r>
            <a:r>
              <a:rPr lang="en-US" sz="1600">
                <a:solidFill>
                  <a:srgbClr val="203C70"/>
                </a:solidFill>
                <a:latin typeface="Varela Round"/>
                <a:ea typeface="Varela Round"/>
                <a:cs typeface="Varela Round"/>
                <a:sym typeface="Varela Round"/>
              </a:rPr>
              <a:t> 2025</a:t>
            </a:r>
            <a:r>
              <a:rPr lang="en-US"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61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Updated Mindset</a:t>
            </a:r>
            <a:br>
              <a:rPr lang="en-US" sz="2800"/>
            </a:b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The New Assembly Line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The New Software Engineer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Deriving Skills from Standards</a:t>
            </a:r>
            <a:endParaRPr sz="2700"/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Mindset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Body Shop is Dead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839788" y="1160463"/>
            <a:ext cx="5157900" cy="414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Realities of the Past</a:t>
            </a:r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body" idx="2"/>
          </p:nvPr>
        </p:nvSpPr>
        <p:spPr>
          <a:xfrm>
            <a:off x="839788" y="1574800"/>
            <a:ext cx="5157900" cy="452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Scaling unitask-roles is no longer economically viable and completely unnecessary.</a:t>
            </a:r>
            <a:endParaRPr/>
          </a:p>
          <a:p>
            <a:pPr marL="914400" lvl="1" indent="-36576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Globalization &amp; Fair Trade Trends</a:t>
            </a:r>
            <a:endParaRPr/>
          </a:p>
          <a:p>
            <a:pPr marL="914400" lvl="1" indent="-36576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LLMs decimate “Time to Apply “</a:t>
            </a:r>
            <a:endParaRPr/>
          </a:p>
          <a:p>
            <a:pPr marL="914400" lvl="1" indent="-36576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Agentic systems displace Turking</a:t>
            </a:r>
            <a:br>
              <a:rPr lang="en-US"/>
            </a:b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Organization that fail to adapt will be left behind.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Demand for individuals who provide unitask talent is rapidly diminishing.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body" idx="3"/>
          </p:nvPr>
        </p:nvSpPr>
        <p:spPr>
          <a:xfrm>
            <a:off x="6172200" y="1160463"/>
            <a:ext cx="5183100" cy="414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Realities of the Present</a:t>
            </a:r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body" idx="4"/>
          </p:nvPr>
        </p:nvSpPr>
        <p:spPr>
          <a:xfrm>
            <a:off x="6172200" y="1574800"/>
            <a:ext cx="5183100" cy="452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It is cheaper &amp; faster to automate than delegate tasks requiring detailed description for remote/staged execution.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Fewer individuals with less training can lean on LLMs to better document such tasks with greater precision and more opportunity for reuse.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Opportunities to branch and parallelize operations free the truly insightful &amp; creative to be so instead of engaging in drudgery.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New Software Engineer…</a:t>
            </a:r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… is the Product Owner, the Architect, the Program Manager and the Bench, armed with VSCode &amp; Copilot to be a single person software shop.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For small software shops (Engineering staff &lt;=10) consider the following migrations:</a:t>
            </a:r>
            <a:br>
              <a:rPr lang="en-US" sz="3000"/>
            </a:b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Bench &lt;- Service, Support, QA, DevOp Engineers, etc.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Architect &lt;- Architects, Bench, etc.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Product Owner &lt;- Product Owners, Mangers, BAs, etc.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ProgramManager &lt;- Delivery Mgrs, Project Mgrs, etc.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I’m not a…</a:t>
            </a: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It takes a lifetime of training and experience t be a seasoned Product Owner, Architect, Program Manager or Full-Stack Developer. 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However, there are well documented standards and frameworks that may be leaned upon by less experienced contributors.</a:t>
            </a:r>
            <a:endParaRPr sz="30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LLMs make using such standards and frameworks easier to understand, adopt and leverage.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LLM&gt; </a:t>
            </a:r>
            <a:r>
              <a:rPr lang="en-US" sz="3000" i="1"/>
              <a:t>As an Architect, &lt;Help me do this task&gt;</a:t>
            </a:r>
            <a:endParaRPr sz="3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But what does it mean to be an Architect</a:t>
            </a:r>
            <a:endParaRPr/>
          </a:p>
        </p:txBody>
      </p:sp>
      <p:graphicFrame>
        <p:nvGraphicFramePr>
          <p:cNvPr id="255" name="Google Shape;255;p29"/>
          <p:cNvGraphicFramePr/>
          <p:nvPr/>
        </p:nvGraphicFramePr>
        <p:xfrm>
          <a:off x="838200" y="1000900"/>
          <a:ext cx="10515600" cy="5197488"/>
        </p:xfrm>
        <a:graphic>
          <a:graphicData uri="http://schemas.openxmlformats.org/drawingml/2006/table">
            <a:tbl>
              <a:tblPr>
                <a:noFill/>
                <a:tableStyleId>{97CED8C7-41A4-48AB-9D64-2A2E7227ADA6}</a:tableStyleId>
              </a:tblPr>
              <a:tblGrid>
                <a:gridCol w="496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8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Standard, Best Practice, or Framework</a:t>
                      </a:r>
                      <a:endParaRPr sz="10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Bench Developer</a:t>
                      </a:r>
                      <a:endParaRPr sz="10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Product Owner</a:t>
                      </a:r>
                      <a:endParaRPr sz="10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Architect </a:t>
                      </a:r>
                      <a:endParaRPr sz="10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Program Manager</a:t>
                      </a:r>
                      <a:endParaRPr sz="10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Actor Model (Akka/similar) Principles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Agile/Scrum Frameworks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Behavior-Driven Development (BDD)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Chaos Engineering / Resilience Testing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Circuit Breakers / Bulkheads / Retries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Component-Based Software Engineering (CBSE)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Defining Resilience in Acceptance Criteria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Distributed Tracing / Observability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Domain-Driven Design (DDD) Principles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Event-Driven Architecture (EDA) / Kafka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Gherkin Syntax (Given-When-Then)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Lean/Agile Principles (Value Flow, Eliminating Waste)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Microservices Architecture (Pattern)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Non-Blocking/Asynchronous Programming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Objectives &amp; Key Results (OKRs)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Prioritizing Responsiveness (SLAs/SLOs)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Prioritization Models (e.g., RICE, Weighted Scoring)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Reactive Manifesto Principles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Stateless Service Design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Supervision Strategies (Hierarchical Fault Tolerance)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1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TOGAF / Architecture Development Method (ADM)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Ubiquitous Language (UL)</a:t>
                      </a:r>
                      <a:endParaRPr sz="10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434343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76200" marR="76200" marT="19050" marB="19050" anchor="ctr">
                    <a:lnL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6F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84E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256" name="Google Shape;256;p29"/>
          <p:cNvSpPr txBox="1"/>
          <p:nvPr/>
        </p:nvSpPr>
        <p:spPr>
          <a:xfrm>
            <a:off x="6071225" y="6425275"/>
            <a:ext cx="52827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Varela Round"/>
                <a:ea typeface="Varela Round"/>
                <a:cs typeface="Varela Round"/>
                <a:sym typeface="Varela Round"/>
              </a:rPr>
              <a:t>1</a:t>
            </a: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-Aware </a:t>
            </a:r>
            <a:r>
              <a:rPr lang="en-US" sz="1200" b="1">
                <a:latin typeface="Varela Round"/>
                <a:ea typeface="Varela Round"/>
                <a:cs typeface="Varela Round"/>
                <a:sym typeface="Varela Round"/>
              </a:rPr>
              <a:t>2</a:t>
            </a: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-Understood </a:t>
            </a:r>
            <a:r>
              <a:rPr lang="en-US" sz="1200" b="1">
                <a:latin typeface="Varela Round"/>
                <a:ea typeface="Varela Round"/>
                <a:cs typeface="Varela Round"/>
                <a:sym typeface="Varela Round"/>
              </a:rPr>
              <a:t>3</a:t>
            </a: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-Practiced </a:t>
            </a:r>
            <a:r>
              <a:rPr lang="en-US" sz="1200" b="1">
                <a:latin typeface="Varela Round"/>
                <a:ea typeface="Varela Round"/>
                <a:cs typeface="Varela Round"/>
                <a:sym typeface="Varela Round"/>
              </a:rPr>
              <a:t>4</a:t>
            </a: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-Experienced</a:t>
            </a:r>
            <a:endParaRPr sz="120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 I need to know about…</a:t>
            </a:r>
            <a:endParaRPr/>
          </a:p>
        </p:txBody>
      </p:sp>
      <p:pic>
        <p:nvPicPr>
          <p:cNvPr id="263" name="Google Shape;2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671306"/>
            <a:ext cx="10515600" cy="3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>
            <a:spLocks noGrp="1"/>
          </p:cNvSpPr>
          <p:nvPr>
            <p:ph type="body" idx="1"/>
          </p:nvPr>
        </p:nvSpPr>
        <p:spPr>
          <a:xfrm>
            <a:off x="838200" y="1130644"/>
            <a:ext cx="10515600" cy="15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6487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320"/>
              <a:t>DDD? Just look it up, take notes, and add them to your project.</a:t>
            </a:r>
            <a:endParaRPr sz="2320"/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20"/>
          </a:p>
          <a:p>
            <a:pPr marL="457200" lvl="0" indent="-36487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320"/>
              <a:t>Leverage your LLM for speed, just don’t forget to review for accuracy and taylor to your need!</a:t>
            </a:r>
            <a:br>
              <a:rPr lang="en-US" sz="2320"/>
            </a:br>
            <a:endParaRPr sz="2320"/>
          </a:p>
          <a:p>
            <a:pPr marL="457200" lvl="0" indent="-36487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320"/>
              <a:t>Please see doc/SBPF/* for examples.</a:t>
            </a:r>
            <a:br>
              <a:rPr lang="en-US" sz="2320"/>
            </a:br>
            <a:endParaRPr sz="23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 Lists for Automation</a:t>
            </a:r>
            <a:endParaRPr/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325" y="1219201"/>
            <a:ext cx="4943475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5223300" cy="490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example shows how you can automate the documentation of specifications, best practices and Frameworks.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You will not be forgiven for not reviewing and tailoring each!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It is worth having architects creating these for company-wide reference. They should not be project specific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Product owners should import the company standards into their project, and modify them to suit the project as needed, whenever they start a new project.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Documenting Intent and Goals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Developing Charters</a:t>
            </a:r>
            <a:endParaRPr sz="2700"/>
          </a:p>
        </p:txBody>
      </p:sp>
      <p:sp>
        <p:nvSpPr>
          <p:cNvPr id="278" name="Google Shape;278;p32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Documenting Intent and Goals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the Obvious</a:t>
            </a:r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There is value in stating the obvious…</a:t>
            </a:r>
            <a:endParaRPr sz="3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…even if you are on your own, it provides clarity &amp; focus.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…when part of a team, it provides a common reference an opportunity to get everyone on the same page and manage misunderstandings before they happen.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LLMs are obtuse, eager to please, &amp; hallucination prone.</a:t>
            </a:r>
            <a:endParaRPr sz="3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Document your problem.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Document your solution.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Document your plan.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Start broad then refine until you are satisfied your boss and your reports can understand your charter.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Remind yourself and your LLM to review, revisit and revise often!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Candidate Charter - First Pass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1"/>
          </p:nvPr>
        </p:nvSpPr>
        <p:spPr>
          <a:xfrm>
            <a:off x="196700" y="1127700"/>
            <a:ext cx="11853900" cy="51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400" b="1"/>
              <a:t>Project Charter: Multi-Tenancy Enablement (Commerce Core Services)</a:t>
            </a:r>
            <a:endParaRPr sz="1400" b="1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/>
              <a:t>This charter outlines the required work to transition core digital commerce services to support multiple independent tenants/clients, a foundational architectural change that impacts Resilience, Elasticity, and Governance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Conception: Problem &amp; Goals (OKRs/Business Value)</a:t>
            </a:r>
            <a:endParaRPr sz="1400" b="1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Problem Statement: The core commerce services are currently single-tenant, preventing the organization from onboarding new enterprise clients rapidly and efficiently. This forces costly and non-standardized client deployments, which is not scalable. The lack of proper tenant isolation introduces security and data segregation risks.</a:t>
            </a:r>
            <a:endParaRPr sz="1400" b="1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Objective: Enable rapid, low-cost client onboarding to accelerate revenue growth. Key Result: Reduce client provisioning time for core services to under 1 hour and enable 10 new enterprise tenants by Q3 2026.</a:t>
            </a:r>
            <a:endParaRPr sz="1400" b="1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Key Stakeholders: Sales, Client Success (Provisioning), Finance (Billing), Legal (Data Compliance).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 b="1"/>
              <a:t>Design &amp; Governance (Architect/Security/Elasticity)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Isolation Model: Adopt a Soft Multi-Tenancy (Shared Database, Schema-per-Tenant) model to optimize cost efficiency. 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Tenant Context Propagation: Mandate that the Tenant-ID is the primary argument and part of the Ubiquitous Language for all core API calls and database lookups. 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Data Sharding: Design services for eventual Elastic sharding based on Tenant-ID to handle potential "noisy neighbor" scenarios.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Must enforce strict data segregation via code review and automated security gates (FV/PBT) based on the Tenant-ID. 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All service APIs must validate the Tenant-ID against the caller's authorization token before any data access occurs.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400" b="1"/>
              <a:t>All core commerce services must adopt the Tenant-ID as a first-class citizen of their Aggregates and internal message events.</a:t>
            </a:r>
            <a:endParaRPr sz="1400" b="1">
              <a:solidFill>
                <a:srgbClr val="000000"/>
              </a:solidFill>
            </a:endParaRPr>
          </a:p>
        </p:txBody>
      </p:sp>
      <p:sp>
        <p:nvSpPr>
          <p:cNvPr id="300" name="Google Shape;300;p35"/>
          <p:cNvSpPr/>
          <p:nvPr/>
        </p:nvSpPr>
        <p:spPr>
          <a:xfrm rot="-695462" flipH="1">
            <a:off x="8087548" y="4583523"/>
            <a:ext cx="3789480" cy="1890739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GEMINI&gt; </a:t>
            </a:r>
            <a:endParaRPr sz="1200"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Please give an example of a good candidate charter for updating a set of digital commerce micro-services need to support multi-tenancy but do not currently. Ensure that the content and structure of the candidate charter would be useful to both humans and copilot.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Charter Refinement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previous example might not be perfectly on point but it was “free.”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It’s easier to edit than create.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You might have been thinking about data isolation and provisioning… were you thinking about billing, OKRs, or DoDs?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What did you and your LLM forget to address?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you </a:t>
            </a:r>
            <a:r>
              <a:rPr lang="en-US" sz="2400" b="1" i="1" u="sng"/>
              <a:t>must</a:t>
            </a:r>
            <a:r>
              <a:rPr lang="en-US" sz="2400"/>
              <a:t> review and refine it to your purpose!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Please see: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doc/exhibits/multitenent-enablement-0.md, </a:t>
            </a:r>
            <a:endParaRPr sz="20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doc/exhibits/multitenent-enablement-1.md, </a:t>
            </a:r>
            <a:endParaRPr sz="20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doc/exhibits/multitenent-enablement-2.md, and</a:t>
            </a:r>
            <a:endParaRPr sz="20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doc/exhibits/multitenent-enablement-3.md 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for example charter refinement using an LLM.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Project Refinement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Decomposing Charters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Project Milestones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Feature Elaboration</a:t>
            </a:r>
            <a:endParaRPr sz="2700"/>
          </a:p>
        </p:txBody>
      </p:sp>
      <p:sp>
        <p:nvSpPr>
          <p:cNvPr id="313" name="Google Shape;313;p37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Refinement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Decomposing Charters</a:t>
            </a:r>
            <a:endParaRPr/>
          </a:p>
        </p:txBody>
      </p:sp>
      <p:sp>
        <p:nvSpPr>
          <p:cNvPr id="327" name="Google Shape;327;p39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you are satisfied that your charter is complete: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Think about phases and releases MVP, v2, v3, etc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How do these release support business goals?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How do they support architectural realities?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our example, you might ask: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 i="1"/>
              <a:t>I would like this project broken up into 12 projects such that we solve this problem 1 service at a time, starting with the new tenent service, then the next service (least dependant, least complex and/or most foundational), and so on until we have 12 charters for 12 services (CHARTER-&lt;SERVICE&gt;.md). I Need a charter for each, and then I need the original charter, CHARTER.md, updated to show its subprojects, the order they should be prioritized and links to their respective charters. Help me plan it please.</a:t>
            </a:r>
            <a:endParaRPr sz="2100"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Gantt Chart of Decomposed Project (Mermaid)</a:t>
            </a:r>
            <a:endParaRPr/>
          </a:p>
        </p:txBody>
      </p:sp>
      <p:pic>
        <p:nvPicPr>
          <p:cNvPr id="334" name="Google Shape;33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540" y="1431019"/>
            <a:ext cx="9284101" cy="467568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0"/>
          <p:cNvSpPr txBox="1"/>
          <p:nvPr/>
        </p:nvSpPr>
        <p:spPr>
          <a:xfrm>
            <a:off x="0" y="1000825"/>
            <a:ext cx="9539700" cy="9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gantt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title Multi-Tenancy Enablement Program Timeline (2026)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1: Foundation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#1 Tenant Management       :p1, 2026-02-01,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#3 Digital Media           :p3, 2026-02-01,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#2 Authentication &amp; RBAC   :p2, after p1,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#7 Content                 :p7, after p3,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3: Core Commerce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#4 Product Catalog         :p4, after p2, 6w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4: Pricing &amp; Inventory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#5 Pricing                 :p5, after p4,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#6 Inventory               :p6, after p4, 4w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5: Shopping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#8 Shopping Cart           :p8, after p5 p6, 5w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6: Search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#9 Catalog Search          :p9, after p4, 3w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#10 Content Search         :p10, after p7, 3w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7: Promotions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#11 Promotions             :p11, after p5 p8, 5w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Phase 8: Logging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#12 Activity Logger        :p12, after p11, 3w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section Milestones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Foundation Complete        :milestone, m1, after p2 p7,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Product Catalog Complete   :milestone, m2, after p4,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Pricing &amp; Inventory Done   :milestone, m3, after p5 p6,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Shopping Cart Complete     :milestone, m4, after p8,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Search Complete            :milestone, m5, after p9 p10,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Promotions Complete        :milestone, m6, after p11,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Roboto Condensed Thin"/>
                <a:ea typeface="Roboto Condensed Thin"/>
                <a:cs typeface="Roboto Condensed Thin"/>
                <a:sym typeface="Roboto Condensed Thin"/>
              </a:rPr>
              <a:t>   Program Complete           :milestone, m7, after p12, 0d</a:t>
            </a:r>
            <a:endParaRPr sz="1200">
              <a:solidFill>
                <a:schemeClr val="lt1"/>
              </a:solidFill>
              <a:latin typeface="Roboto Condensed Thin"/>
              <a:ea typeface="Roboto Condensed Thin"/>
              <a:cs typeface="Roboto Condensed Thin"/>
              <a:sym typeface="Roboto Condensed Th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Taking Small Bites</a:t>
            </a:r>
            <a:endParaRPr/>
          </a:p>
        </p:txBody>
      </p:sp>
      <p:sp>
        <p:nvSpPr>
          <p:cNvPr id="342" name="Google Shape;342;p41"/>
          <p:cNvSpPr txBox="1">
            <a:spLocks noGrp="1"/>
          </p:cNvSpPr>
          <p:nvPr>
            <p:ph type="body" idx="1"/>
          </p:nvPr>
        </p:nvSpPr>
        <p:spPr>
          <a:xfrm>
            <a:off x="838200" y="1219200"/>
            <a:ext cx="6717000" cy="4907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Each project should have its own Repository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1+12 for this example</a:t>
            </a:r>
            <a:endParaRPr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Continue decomposing until you reach a</a:t>
            </a:r>
            <a:br>
              <a:rPr lang="en-US" sz="2600"/>
            </a:br>
            <a:r>
              <a:rPr lang="en-US" sz="2600" i="1"/>
              <a:t>comfortable level of isolation</a:t>
            </a:r>
            <a:r>
              <a:rPr lang="en-US" sz="2600"/>
              <a:t>: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This could be based on release plans or other criteria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by service for this example (12)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or by feature set…</a:t>
            </a:r>
            <a:endParaRPr sz="2400"/>
          </a:p>
        </p:txBody>
      </p:sp>
      <p:sp>
        <p:nvSpPr>
          <p:cNvPr id="343" name="Google Shape;343;p41"/>
          <p:cNvSpPr txBox="1">
            <a:spLocks noGrp="1"/>
          </p:cNvSpPr>
          <p:nvPr>
            <p:ph type="body" idx="2"/>
          </p:nvPr>
        </p:nvSpPr>
        <p:spPr>
          <a:xfrm>
            <a:off x="7555350" y="1219200"/>
            <a:ext cx="3798600" cy="490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highlight>
                  <a:srgbClr val="1F1F1F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## </a:t>
            </a: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Tier 0: Foundation (No Dependencies)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occasion-setup-default.feature (Issue #84) - Basic occasion data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platform-authentication.feature (Issue #84) - Core auth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## Tier 1: Platform Integration Basics (Depends on Tier 0)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platform-user-mapping.feature (Issue #121) - User data mapping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platform-catalog-config.feature (Issue #130) - Catalog configuration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platform-search-delegation.feature (Issue #122) - Basic search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platform-payment-integration.feature (Issue #126) - Payment methods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platform-address-book.feature (Issue #132) - Address book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platform-account-integration.feature (Issue #133) - Account integration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## Tier 2: Core Gifting Features (Depends on Tier 0-1)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gift-discovery-occasion-search.feature (Issue #94) - Occasion-based search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gift-selection-workflow.feature (Issue #134) - Selection workflow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order-processing-regular.feature (Issue #79) - Regular orders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occasion-delivery-deadlines.feature (Issue #88) - Deadline calculation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occasion-message-personalization.feature (Issue #87) - Message templates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## Tier 3: Enhanced Discovery (Depends on Tier 2)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gift-discovery-multi-criteria.feature (Issue #95) - Advanced search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gift-discovery-inventory.feature (Issue #96) - Inventory integration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gift-discovery-guided.feature (Issue #97) - Guided selection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gift-discovery-collections.feature (Issue #98) - Curated collections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- platform-enhanced-search.feature (Issue #129) - Enhanced search</a:t>
            </a:r>
            <a:endParaRPr sz="4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Taking Small Bites</a:t>
            </a:r>
            <a:endParaRPr/>
          </a:p>
        </p:txBody>
      </p:sp>
      <p:sp>
        <p:nvSpPr>
          <p:cNvPr id="350" name="Google Shape;350;p42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Decompose by Domain/Service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Document a List of Features 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Map Features to Domains/Service(s)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Generate Gherkin Features from List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Conduct “Three Amigos” to Refine Gherkin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 Owner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Architect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Bench Developer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How We Work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Domain, Behavior &amp; Test Driven Design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Ceremony-Driven Playbook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We Work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DDD: Modeling the Core Business Problem</a:t>
            </a:r>
            <a:endParaRPr/>
          </a:p>
        </p:txBody>
      </p:sp>
      <p:sp>
        <p:nvSpPr>
          <p:cNvPr id="383" name="Google Shape;383;p47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Domain-Driven Design</a:t>
            </a:r>
            <a:r>
              <a:rPr lang="en-US" sz="2000"/>
              <a:t> (DDD) is an approach to software development that centers the application on the core domain logic and the domain experts' models of reality. It’s about building a shared language and a clear map of the business world.</a:t>
            </a:r>
            <a:br>
              <a:rPr lang="en-US" sz="2000"/>
            </a:b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/>
              <a:t>Key Concepts</a:t>
            </a:r>
            <a:r>
              <a:rPr lang="en-US" sz="2000"/>
              <a:t>: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Ubiquitous Language:</a:t>
            </a:r>
            <a:r>
              <a:rPr lang="en-US" sz="2000"/>
              <a:t> A common, shared language used by both technical and non-technical team members (domain experts) within a specific context.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Bounded Contexts</a:t>
            </a:r>
            <a:r>
              <a:rPr lang="en-US" sz="2000"/>
              <a:t>: Explicit boundaries within a large system where a particular domain model and its ubiquitous language are defined and consistent.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Strategic Design</a:t>
            </a:r>
            <a:r>
              <a:rPr lang="en-US" sz="2000"/>
              <a:t>: Focusing on the large-scale structure of the system, identifying subdomains and their relationships (e.g., using Context Maps).</a:t>
            </a:r>
            <a:br>
              <a:rPr lang="en-US" sz="2000"/>
            </a:b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/>
              <a:t>The Goal</a:t>
            </a:r>
            <a:r>
              <a:rPr lang="en-US" sz="2000"/>
              <a:t>: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fight complexity head-on by aligning the code structure directly with the real-world business concepts.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BDD: Defining Desired Outcomes and Behavior</a:t>
            </a:r>
            <a:endParaRPr/>
          </a:p>
        </p:txBody>
      </p:sp>
      <p:sp>
        <p:nvSpPr>
          <p:cNvPr id="390" name="Google Shape;390;p48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Behavior-Driven Design</a:t>
            </a:r>
            <a:r>
              <a:rPr lang="en-US"/>
              <a:t> (BDD) is an agile software development process that enhances collaboration between developers, QA, and business participants. It encourages the use of a natural language (like English) to define expected application behavior.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Key Concepts</a:t>
            </a:r>
            <a:r>
              <a:rPr lang="en-US"/>
              <a:t>: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1"/>
              <a:t>Gherkin Syntax</a:t>
            </a:r>
            <a:r>
              <a:rPr lang="en-US"/>
              <a:t> (Given/When/Then): A structured format for writing executable specifications that describe application behavior from the user’s perspective.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1"/>
              <a:t>Focus on Outcomes</a:t>
            </a:r>
            <a:r>
              <a:rPr lang="en-US"/>
              <a:t>: BDD shifts the focus from testing implementation details to defining how the system should behave to meet a specific business requirement.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1"/>
              <a:t>Shared Understanding</a:t>
            </a:r>
            <a:r>
              <a:rPr lang="en-US"/>
              <a:t>: The specifications act as living documentation that everyone can read and understand, bridging the communication gap.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i="1"/>
            </a:br>
            <a:r>
              <a:rPr lang="en-US" i="1"/>
              <a:t>The Goal:</a:t>
            </a:r>
            <a:r>
              <a:rPr lang="en-US"/>
              <a:t> 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To ensure the software is built to solve the right problem by defining and verifying observable behavior.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TDD: The Cycle of Red, Green, Refactor</a:t>
            </a:r>
            <a:endParaRPr/>
          </a:p>
        </p:txBody>
      </p:sp>
      <p:sp>
        <p:nvSpPr>
          <p:cNvPr id="397" name="Google Shape;397;p49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Test-Driven Development (TDD) is a software development process where you write an automated test case before writing the minimal code required to pass that test.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/>
              <a:t>Key Concepts</a:t>
            </a:r>
            <a:r>
              <a:rPr lang="en-US" sz="2000"/>
              <a:t>: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The TDD Cycle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RED: Write a small test that fails.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GREEN: Write the minimum code needed to make the test pass.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REFACTOR: Clean up the new code while ensuring all tests remain green.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Immediate Feedback</a:t>
            </a:r>
            <a:r>
              <a:rPr lang="en-US" sz="2000"/>
              <a:t>: TDD provides rapid feedback on the correctness of the code and the design decisions.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Emergent Design</a:t>
            </a:r>
            <a:r>
              <a:rPr lang="en-US" sz="2000"/>
              <a:t>: The process naturally leads to modular, decoupled, and testable code.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/>
              <a:t>The Goal</a:t>
            </a:r>
            <a:r>
              <a:rPr lang="en-US" sz="2000"/>
              <a:t>: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produce clean code that works, built with confidence that design choices are validated by automated regression tests.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Synergy: A Comprehensive Approach to Design</a:t>
            </a:r>
            <a:endParaRPr/>
          </a:p>
        </p:txBody>
      </p:sp>
      <p:sp>
        <p:nvSpPr>
          <p:cNvPr id="404" name="Google Shape;404;p50"/>
          <p:cNvSpPr txBox="1">
            <a:spLocks noGrp="1"/>
          </p:cNvSpPr>
          <p:nvPr>
            <p:ph type="body" idx="1"/>
          </p:nvPr>
        </p:nvSpPr>
        <p:spPr>
          <a:xfrm>
            <a:off x="838200" y="1130646"/>
            <a:ext cx="10515600" cy="255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Blending TDD, BDD, and DDD provides a holistic design strategy that manages complexity from every angle. Each methodology reinforces and elevates the others.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Higher Quality</a:t>
            </a:r>
            <a:r>
              <a:rPr lang="en-US" sz="2000"/>
              <a:t>: Domain-aligned, verifiable, and robust software.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Reduced Risk</a:t>
            </a:r>
            <a:r>
              <a:rPr lang="en-US" sz="2000"/>
              <a:t>: Clear specifications and rapid feedback loops catch errors early.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Improved Communication</a:t>
            </a:r>
            <a:r>
              <a:rPr lang="en-US" sz="2000"/>
              <a:t>: A shared, executable language across the entire team.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/>
              <a:t>The Combined Power</a:t>
            </a:r>
            <a:r>
              <a:rPr lang="en-US" sz="2000"/>
              <a:t>:</a:t>
            </a:r>
            <a:endParaRPr sz="2000"/>
          </a:p>
        </p:txBody>
      </p:sp>
      <p:graphicFrame>
        <p:nvGraphicFramePr>
          <p:cNvPr id="405" name="Google Shape;405;p50"/>
          <p:cNvGraphicFramePr/>
          <p:nvPr/>
        </p:nvGraphicFramePr>
        <p:xfrm>
          <a:off x="849061" y="3704792"/>
          <a:ext cx="10908650" cy="1950630"/>
        </p:xfrm>
        <a:graphic>
          <a:graphicData uri="http://schemas.openxmlformats.org/drawingml/2006/table">
            <a:tbl>
              <a:tblPr>
                <a:noFill/>
                <a:tableStyleId>{F9883A26-C8AD-44DA-B530-93F148C1F291}</a:tableStyleId>
              </a:tblPr>
              <a:tblGrid>
                <a:gridCol w="133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457200" lvl="0" indent="-3556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arela Round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DDD</a:t>
                      </a:r>
                      <a:endParaRPr sz="2000" b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Strategic Modeling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We build the right concepts aligned with business reality.</a:t>
                      </a:r>
                      <a:endParaRPr sz="1800" i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arela Round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BDD</a:t>
                      </a:r>
                      <a:endParaRPr sz="2000" b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Behavioral Clarity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We verify the right behavior and shared understanding of requirements.</a:t>
                      </a:r>
                      <a:endParaRPr sz="1800" i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Varela Round"/>
                        <a:buChar char="●"/>
                      </a:pPr>
                      <a:r>
                        <a:rPr lang="en-US" sz="2000" b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TDD</a:t>
                      </a:r>
                      <a:endParaRPr sz="2000" b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Tactical Implementation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i="1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We produce a reliable, clean implementation that is verifiable.</a:t>
                      </a:r>
                      <a:endParaRPr sz="1800" i="1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Pillars - Ceremony-Driven Playbook</a:t>
            </a:r>
            <a:endParaRPr/>
          </a:p>
        </p:txBody>
      </p:sp>
      <p:sp>
        <p:nvSpPr>
          <p:cNvPr id="412" name="Google Shape;412;p51"/>
          <p:cNvSpPr/>
          <p:nvPr/>
        </p:nvSpPr>
        <p:spPr>
          <a:xfrm>
            <a:off x="7104000" y="3516650"/>
            <a:ext cx="4249800" cy="211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Varela Round"/>
                <a:ea typeface="Varela Round"/>
                <a:cs typeface="Varela Round"/>
                <a:sym typeface="Varela Round"/>
              </a:rPr>
              <a:t>BDD</a:t>
            </a:r>
            <a:endParaRPr sz="2400"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Varela Round"/>
                <a:ea typeface="Varela Round"/>
                <a:cs typeface="Varela Round"/>
                <a:sym typeface="Varela Round"/>
              </a:rPr>
              <a:t>Specify Behavior with Realistic Examples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3" name="Google Shape;413;p51"/>
          <p:cNvSpPr/>
          <p:nvPr/>
        </p:nvSpPr>
        <p:spPr>
          <a:xfrm rot="5400414">
            <a:off x="7378826" y="1538059"/>
            <a:ext cx="2493300" cy="2386800"/>
          </a:xfrm>
          <a:prstGeom prst="bentArrow">
            <a:avLst>
              <a:gd name="adj1" fmla="val 25892"/>
              <a:gd name="adj2" fmla="val 23213"/>
              <a:gd name="adj3" fmla="val 25000"/>
              <a:gd name="adj4" fmla="val 87500"/>
            </a:avLst>
          </a:prstGeom>
          <a:solidFill>
            <a:srgbClr val="FFFFFF">
              <a:alpha val="20000"/>
            </a:srgbClr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3971100" y="1000825"/>
            <a:ext cx="4249800" cy="211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Varela Round"/>
                <a:ea typeface="Varela Round"/>
                <a:cs typeface="Varela Round"/>
                <a:sym typeface="Varela Round"/>
              </a:rPr>
              <a:t>DDD</a:t>
            </a:r>
            <a:br>
              <a:rPr lang="en-US"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-US">
                <a:latin typeface="Varela Round"/>
                <a:ea typeface="Varela Round"/>
                <a:cs typeface="Varela Round"/>
                <a:sym typeface="Varela Round"/>
              </a:rPr>
              <a:t>Understand and Model the Domain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5" name="Google Shape;415;p51"/>
          <p:cNvSpPr/>
          <p:nvPr/>
        </p:nvSpPr>
        <p:spPr>
          <a:xfrm rot="414">
            <a:off x="2040656" y="1342128"/>
            <a:ext cx="2493600" cy="2386800"/>
          </a:xfrm>
          <a:prstGeom prst="bentArrow">
            <a:avLst>
              <a:gd name="adj1" fmla="val 25892"/>
              <a:gd name="adj2" fmla="val 23213"/>
              <a:gd name="adj3" fmla="val 25000"/>
              <a:gd name="adj4" fmla="val 87500"/>
            </a:avLst>
          </a:prstGeom>
          <a:solidFill>
            <a:srgbClr val="FFFFFF">
              <a:alpha val="20000"/>
            </a:srgbClr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838200" y="3516650"/>
            <a:ext cx="4249800" cy="211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Varela Round"/>
                <a:ea typeface="Varela Round"/>
                <a:cs typeface="Varela Round"/>
                <a:sym typeface="Varela Round"/>
              </a:rPr>
              <a:t>TDD</a:t>
            </a:r>
            <a:br>
              <a:rPr lang="en-US"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-US">
                <a:latin typeface="Varela Round"/>
                <a:ea typeface="Varela Round"/>
                <a:cs typeface="Varela Round"/>
                <a:sym typeface="Varela Round"/>
              </a:rPr>
              <a:t>Implement via Testing &amp; Refactoring 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7" name="Google Shape;417;p51"/>
          <p:cNvSpPr/>
          <p:nvPr/>
        </p:nvSpPr>
        <p:spPr>
          <a:xfrm rot="-8364954">
            <a:off x="4719356" y="4184093"/>
            <a:ext cx="2493377" cy="1892762"/>
          </a:xfrm>
          <a:prstGeom prst="bentArrow">
            <a:avLst>
              <a:gd name="adj1" fmla="val 25892"/>
              <a:gd name="adj2" fmla="val 23213"/>
              <a:gd name="adj3" fmla="val 25000"/>
              <a:gd name="adj4" fmla="val 87500"/>
            </a:avLst>
          </a:prstGeom>
          <a:solidFill>
            <a:srgbClr val="FFFFFF">
              <a:alpha val="20000"/>
            </a:srgbClr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18" name="Google Shape;418;p51"/>
          <p:cNvSpPr txBox="1"/>
          <p:nvPr/>
        </p:nvSpPr>
        <p:spPr>
          <a:xfrm>
            <a:off x="12992350" y="1337875"/>
            <a:ext cx="3000000" cy="1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DDD creates language → BDD uses language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BDD creates acceptance tests → TDD decomposes them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TDD reveals design friction → DDD refines the model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" name="Google Shape;419;p51"/>
          <p:cNvSpPr/>
          <p:nvPr/>
        </p:nvSpPr>
        <p:spPr>
          <a:xfrm>
            <a:off x="8908682" y="1491455"/>
            <a:ext cx="32550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DDD creates language</a:t>
            </a:r>
            <a:b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BDD uses language</a:t>
            </a:r>
            <a:endParaRPr sz="1800" b="1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20" name="Google Shape;420;p51"/>
          <p:cNvSpPr/>
          <p:nvPr/>
        </p:nvSpPr>
        <p:spPr>
          <a:xfrm>
            <a:off x="4149751" y="5633750"/>
            <a:ext cx="38925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BDD creates acceptance tests</a:t>
            </a:r>
            <a:b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TDD decomposes them</a:t>
            </a:r>
            <a:endParaRPr sz="1800" b="1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21" name="Google Shape;421;p51"/>
          <p:cNvSpPr/>
          <p:nvPr/>
        </p:nvSpPr>
        <p:spPr>
          <a:xfrm>
            <a:off x="1563" y="1376687"/>
            <a:ext cx="32550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TDD reveals design friction</a:t>
            </a:r>
            <a:b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-US" sz="1800" b="1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DDD refines the model</a:t>
            </a:r>
            <a:endParaRPr sz="1800" b="1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>
            <a:spLocks noGrp="1"/>
          </p:cNvSpPr>
          <p:nvPr>
            <p:ph type="body" idx="1"/>
          </p:nvPr>
        </p:nvSpPr>
        <p:spPr>
          <a:xfrm>
            <a:off x="839788" y="1160463"/>
            <a:ext cx="5157900" cy="414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Use this Playbook</a:t>
            </a:r>
            <a:endParaRPr/>
          </a:p>
        </p:txBody>
      </p:sp>
      <p:sp>
        <p:nvSpPr>
          <p:cNvPr id="428" name="Google Shape;428;p5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Ceremony-Driven Playbook</a:t>
            </a:r>
            <a:endParaRPr/>
          </a:p>
        </p:txBody>
      </p:sp>
      <p:sp>
        <p:nvSpPr>
          <p:cNvPr id="429" name="Google Shape;429;p52"/>
          <p:cNvSpPr txBox="1">
            <a:spLocks noGrp="1"/>
          </p:cNvSpPr>
          <p:nvPr>
            <p:ph type="body" idx="2"/>
          </p:nvPr>
        </p:nvSpPr>
        <p:spPr>
          <a:xfrm>
            <a:off x="839788" y="1574800"/>
            <a:ext cx="5157900" cy="452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Align everyone on how work flows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Reduce ambiguity across roles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Create living, executable documentation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Ensure domain accuracy, behavioral clarity, and testable implementation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Keep architecture, code, and documentation synchronized</a:t>
            </a:r>
            <a:endParaRPr sz="2400"/>
          </a:p>
        </p:txBody>
      </p:sp>
      <p:sp>
        <p:nvSpPr>
          <p:cNvPr id="430" name="Google Shape;430;p52"/>
          <p:cNvSpPr txBox="1">
            <a:spLocks noGrp="1"/>
          </p:cNvSpPr>
          <p:nvPr>
            <p:ph type="body" idx="3"/>
          </p:nvPr>
        </p:nvSpPr>
        <p:spPr>
          <a:xfrm>
            <a:off x="6172200" y="1160463"/>
            <a:ext cx="5183100" cy="414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Philosophy</a:t>
            </a:r>
            <a:endParaRPr/>
          </a:p>
        </p:txBody>
      </p:sp>
      <p:sp>
        <p:nvSpPr>
          <p:cNvPr id="431" name="Google Shape;431;p52"/>
          <p:cNvSpPr txBox="1">
            <a:spLocks noGrp="1"/>
          </p:cNvSpPr>
          <p:nvPr>
            <p:ph type="body" idx="4"/>
          </p:nvPr>
        </p:nvSpPr>
        <p:spPr>
          <a:xfrm>
            <a:off x="6172200" y="1574800"/>
            <a:ext cx="5183100" cy="452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Ceremony-driven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Domain-oriented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Behavior-specified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Test-first implementation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Everything tracked in Git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Everything expressed as code or Markdown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Overview</a:t>
            </a:r>
            <a:endParaRPr/>
          </a:p>
        </p:txBody>
      </p:sp>
      <p:graphicFrame>
        <p:nvGraphicFramePr>
          <p:cNvPr id="438" name="Google Shape;438;p53"/>
          <p:cNvGraphicFramePr/>
          <p:nvPr/>
        </p:nvGraphicFramePr>
        <p:xfrm>
          <a:off x="838200" y="1095650"/>
          <a:ext cx="10515600" cy="4926350"/>
        </p:xfrm>
        <a:graphic>
          <a:graphicData uri="http://schemas.openxmlformats.org/drawingml/2006/table">
            <a:tbl>
              <a:tblPr>
                <a:noFill/>
                <a:tableStyleId>{F9883A26-C8AD-44DA-B530-93F148C1F291}</a:tableStyleId>
              </a:tblPr>
              <a:tblGrid>
                <a:gridCol w="2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ROLE</a:t>
                      </a:r>
                      <a:endParaRPr sz="1800" b="1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FOCUS</a:t>
                      </a:r>
                      <a:endParaRPr sz="1800" b="1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LEADS</a:t>
                      </a:r>
                      <a:endParaRPr sz="1800" b="1">
                        <a:solidFill>
                          <a:schemeClr val="lt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Program Manager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Coordination &amp; Status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Dependency &amp; Completeness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Documentation Synchronization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Living Documentation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Integration Testing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Product Owner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Business Values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Business Roles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Business Scenarios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Three Amigos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Example Mapping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Architect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Domain Modeling &amp; Boundaries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Implementation Strategy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Governance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Event Storming &amp; Modeling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Acceptance Criteria Review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Bench Developer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Implementation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Testing &amp; Refactoring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Documentation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Test-Driven Development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Varela Round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Property-Based Testing</a:t>
                      </a:r>
                      <a:endParaRPr sz="1800">
                        <a:solidFill>
                          <a:schemeClr val="dk1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4"/>
          <p:cNvSpPr/>
          <p:nvPr/>
        </p:nvSpPr>
        <p:spPr>
          <a:xfrm>
            <a:off x="204600" y="1790850"/>
            <a:ext cx="11782800" cy="4050300"/>
          </a:xfrm>
          <a:prstGeom prst="rightArrow">
            <a:avLst>
              <a:gd name="adj1" fmla="val 50000"/>
              <a:gd name="adj2" fmla="val 55012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584550" y="1000825"/>
            <a:ext cx="2611200" cy="5768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Discovery</a:t>
            </a:r>
            <a:endParaRPr sz="18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Use DDD Ceremonies</a:t>
            </a:r>
            <a:endParaRPr sz="12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46" name="Google Shape;446;p54"/>
          <p:cNvSpPr/>
          <p:nvPr/>
        </p:nvSpPr>
        <p:spPr>
          <a:xfrm>
            <a:off x="3388449" y="1000825"/>
            <a:ext cx="2611200" cy="5768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Specification</a:t>
            </a:r>
            <a:endParaRPr sz="18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Use BDD Ceremonies</a:t>
            </a:r>
            <a:endParaRPr sz="12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47" name="Google Shape;447;p54"/>
          <p:cNvSpPr/>
          <p:nvPr/>
        </p:nvSpPr>
        <p:spPr>
          <a:xfrm>
            <a:off x="6192349" y="1000825"/>
            <a:ext cx="2611200" cy="5768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Implementation</a:t>
            </a:r>
            <a:endParaRPr sz="18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Use TDD Ceremonies</a:t>
            </a:r>
            <a:endParaRPr sz="12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48" name="Google Shape;448;p54"/>
          <p:cNvSpPr/>
          <p:nvPr/>
        </p:nvSpPr>
        <p:spPr>
          <a:xfrm>
            <a:off x="8996248" y="1000825"/>
            <a:ext cx="2611200" cy="5768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Integration</a:t>
            </a:r>
            <a:endParaRPr sz="18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Feedback &amp; Acceptance</a:t>
            </a:r>
            <a:endParaRPr sz="1200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49" name="Google Shape;449;p5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Flows</a:t>
            </a:r>
            <a:endParaRPr/>
          </a:p>
        </p:txBody>
      </p:sp>
      <p:sp>
        <p:nvSpPr>
          <p:cNvPr id="450" name="Google Shape;450;p54"/>
          <p:cNvSpPr/>
          <p:nvPr/>
        </p:nvSpPr>
        <p:spPr>
          <a:xfrm>
            <a:off x="1238100" y="1628850"/>
            <a:ext cx="1304100" cy="505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1" name="Google Shape;451;p54"/>
          <p:cNvSpPr/>
          <p:nvPr/>
        </p:nvSpPr>
        <p:spPr>
          <a:xfrm>
            <a:off x="4041999" y="1628850"/>
            <a:ext cx="1304100" cy="505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2" name="Google Shape;452;p54"/>
          <p:cNvSpPr/>
          <p:nvPr/>
        </p:nvSpPr>
        <p:spPr>
          <a:xfrm>
            <a:off x="6845900" y="1628850"/>
            <a:ext cx="1304100" cy="505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3" name="Google Shape;453;p54"/>
          <p:cNvSpPr/>
          <p:nvPr/>
        </p:nvSpPr>
        <p:spPr>
          <a:xfrm>
            <a:off x="9649800" y="1628850"/>
            <a:ext cx="1304100" cy="505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4" name="Google Shape;454;p54"/>
          <p:cNvSpPr/>
          <p:nvPr/>
        </p:nvSpPr>
        <p:spPr>
          <a:xfrm>
            <a:off x="634350" y="1782277"/>
            <a:ext cx="2511600" cy="14079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Event Storming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Domain Events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Club Events into Flows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ID Commands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ID Aggregates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Bounded Contexts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5" name="Google Shape;455;p54"/>
          <p:cNvSpPr/>
          <p:nvPr/>
        </p:nvSpPr>
        <p:spPr>
          <a:xfrm>
            <a:off x="634350" y="3234777"/>
            <a:ext cx="2511600" cy="14079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UL Workflow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Events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Terms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Definitions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Glossary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Scenarios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6" name="Google Shape;456;p54"/>
          <p:cNvSpPr/>
          <p:nvPr/>
        </p:nvSpPr>
        <p:spPr>
          <a:xfrm>
            <a:off x="634350" y="4687277"/>
            <a:ext cx="2511600" cy="1601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Domain Model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Define aggregates, entities, value objects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Identify invariants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Command-Behavior-Event Mapping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Lifecycle State Machines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7" name="Google Shape;457;p54"/>
          <p:cNvSpPr/>
          <p:nvPr/>
        </p:nvSpPr>
        <p:spPr>
          <a:xfrm>
            <a:off x="3438249" y="1935696"/>
            <a:ext cx="2511600" cy="9825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Three Amigos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Document Scenarios as Features (Gherkin)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Domain Alignment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8" name="Google Shape;458;p54"/>
          <p:cNvSpPr/>
          <p:nvPr/>
        </p:nvSpPr>
        <p:spPr>
          <a:xfrm>
            <a:off x="3438249" y="2948874"/>
            <a:ext cx="2511600" cy="13122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Example Mapping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Stories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Rules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Examples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Doc Questions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59" name="Google Shape;459;p54"/>
          <p:cNvSpPr/>
          <p:nvPr/>
        </p:nvSpPr>
        <p:spPr>
          <a:xfrm>
            <a:off x="3438249" y="4307106"/>
            <a:ext cx="2511600" cy="17130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Acceptance Criteria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Validates scenarios against Domain model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Align scenarios with aggregates &amp; invariants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Refine Domain Model 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Approve/Reject for Impl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0" name="Google Shape;460;p54"/>
          <p:cNvSpPr/>
          <p:nvPr/>
        </p:nvSpPr>
        <p:spPr>
          <a:xfrm>
            <a:off x="6242150" y="2089121"/>
            <a:ext cx="2511600" cy="13122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Red-Green-Refactor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Test names use ubiquitous language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Tests express domain behavior, not implementation details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1" name="Google Shape;461;p54"/>
          <p:cNvSpPr/>
          <p:nvPr/>
        </p:nvSpPr>
        <p:spPr>
          <a:xfrm>
            <a:off x="9046050" y="1613500"/>
            <a:ext cx="2511600" cy="16014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Sprint Grooming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Plan Next Sprint Tasks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Prev Sprint Retrospective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Assn Next Sprint Tasks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Close Current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Prev = Current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Current = Next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Next = New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2" name="Google Shape;462;p54"/>
          <p:cNvSpPr/>
          <p:nvPr/>
        </p:nvSpPr>
        <p:spPr>
          <a:xfrm>
            <a:off x="6242150" y="3432042"/>
            <a:ext cx="2511600" cy="17130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Property-Based Testing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Discover edge cases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Validate invariants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Update example maps 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Monetary Ops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Idempotent CMDs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Ordering Rules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○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Pagination rules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3" name="Google Shape;463;p54"/>
          <p:cNvSpPr/>
          <p:nvPr/>
        </p:nvSpPr>
        <p:spPr>
          <a:xfrm>
            <a:off x="6242150" y="5191060"/>
            <a:ext cx="2511600" cy="12099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Scenario Decomp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Start from a failing scenario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Map steps to aggregates and unit tests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Identify coverage gaps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464" name="Google Shape;464;p54"/>
          <p:cNvSpPr/>
          <p:nvPr/>
        </p:nvSpPr>
        <p:spPr>
          <a:xfrm>
            <a:off x="9046050" y="5513306"/>
            <a:ext cx="2511600" cy="12099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Integration</a:t>
            </a:r>
            <a:endParaRPr sz="16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Scenario-to-Test Decomp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X-Boundary Testing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Domain/Behavior/Test Retrospectives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arela Round"/>
              <a:buChar char="●"/>
            </a:pPr>
            <a:r>
              <a:rPr lang="en-US" sz="12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Sync Living Docs</a:t>
            </a:r>
            <a:endParaRPr sz="1200">
              <a:solidFill>
                <a:schemeClr val="dk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Working Faster</a:t>
            </a:r>
            <a:endParaRPr/>
          </a:p>
        </p:txBody>
      </p:sp>
      <p:sp>
        <p:nvSpPr>
          <p:cNvPr id="471" name="Google Shape;471;p55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 leaders should conduct their ceremonies on their own with copilot first. This will: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seed needful documentation,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speed up the actual ceremony with humans,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help those leaders think through other roles, 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provide practice on using copilot.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Please see: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HOW-WE-WORK.md</a:t>
            </a:r>
            <a:endParaRPr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.github/copilot-instructions*.md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Storming</a:t>
            </a:r>
            <a:endParaRPr/>
          </a:p>
        </p:txBody>
      </p:sp>
      <p:sp>
        <p:nvSpPr>
          <p:cNvPr id="478" name="Google Shape;478;p56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charter has already done the domain modeling - which defeats the purpose of Event Storming. Look at what's already specified: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Pre-determined Decisions: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Aggregate root (Tenant) with exact methods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Domain events (TenantProvisioningStarted, TenantActivated,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State machine (DRAFT → PROVISIONING → ACTIVE → SUSPENDED → ARCHIVED)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Commands (provision(), activate(), suspend(), archive())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Value objects (TenantId, TenantStatus)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Database schema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API contracts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Even BDD scenarios!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This is Problematic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Storming Goal: Discover domain events through collaborative exploration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State: Domain events already documented in charter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creates a tension: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Follow the charter → Event Storming becomes validation exercise (not discovery)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Ignore the charter → Waste the detailed design already done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 Recommendation: Hybrid Approach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 A: Validate &amp; Refine (Recommended)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Event Storming to validate the charter's assumptions and discover what's missing: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edge cases not covered? (failed provisioning rollback, suspended → active reactivation, bulk tenant migrations)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missing events? (TenantMetadataUpdated, TenantReactivated, ProvisioningStepFailed)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hotspots in the charter's flow? (What happens if schema creation succeeds but Kafka topic fails?)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there external systems not modeled? (Billing system triggers, audit logging, notification service)</a:t>
            </a:r>
            <a:endParaRPr/>
          </a:p>
        </p:txBody>
      </p:sp>
      <p:sp>
        <p:nvSpPr>
          <p:cNvPr id="479" name="Google Shape;479;p56"/>
          <p:cNvSpPr/>
          <p:nvPr/>
        </p:nvSpPr>
        <p:spPr>
          <a:xfrm rot="-695462" flipH="1">
            <a:off x="8295837" y="5160563"/>
            <a:ext cx="3789480" cy="1444824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COPILOT&gt; </a:t>
            </a:r>
            <a:endParaRPr sz="1200"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before we begin event storming, what is your opinion of CHARTER.md? is it rich enough to start event storming?</a:t>
            </a:r>
            <a:endParaRPr sz="1200"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Charter updated with Event Storming corrections. Changes made: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CRUD → CPQ terminology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Added FAILED state for provisioning errors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Refined suspension - operational only, RETISIO exempt, typed reasons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Added reactivation method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Added provisioning failure handling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Terminal ARCHIVED state documented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Header note showing charter was refined post-Event Storming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Kept all implementation details (OpenAPI, DB schema, BDD scenarios) as they'll inform Phase 2 (Three Amigos) and Phase 3 (Implementation).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not shown, left as exercise but: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You must steer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My session tried to over achieve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Had to remind copilot to respect service and domain boundaries!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Please see: doc/exhibits/aggregate-tenant.md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Please see: doc/exhibits/event-storming-tenant-management.md</a:t>
            </a:r>
            <a:endParaRPr/>
          </a:p>
        </p:txBody>
      </p:sp>
      <p:sp>
        <p:nvSpPr>
          <p:cNvPr id="486" name="Google Shape;486;p5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Storming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Ubiquitous Language</a:t>
            </a:r>
            <a:endParaRPr/>
          </a:p>
        </p:txBody>
      </p:sp>
      <p:sp>
        <p:nvSpPr>
          <p:cNvPr id="493" name="Google Shape;493;p58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Perfect. Starting Phase 1.2: Ubiquitous Language Definition.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documentation files and analyzed content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Perfect. Now I'll create the Ubiquitous Language glossary, extracting terms from our Event Storming session: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Created ubiquitous-language.md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1.2 Ubiquitous Language Complete!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Artifact created: ubiquitous-language.md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terms extracted: 40+ domain terms from Event Storming with definitions, examples, code references, and BDD usage.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Ready to commit and sync, then proceed to Phase 1.3 Domain Modeling?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Please see: doc/exhibits/ubiquitous-language.md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Modeling</a:t>
            </a:r>
            <a:endParaRPr/>
          </a:p>
        </p:txBody>
      </p:sp>
      <p:sp>
        <p:nvSpPr>
          <p:cNvPr id="500" name="Google Shape;500;p59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1.3: Domain Modeling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Created comprehensive Tenant aggregate design in aggregate-tenant.md: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Mermaid Diagrams: Class diagram (Tenant + 4 value objects) and 6-state machine</a:t>
            </a: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4 Business Invariants: Email domain uniqueness, state transition validity, provisioning retry limit (3 attempts), RETISIO platform tenant protection</a:t>
            </a: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7 Domain Events: Complete Command → Event → State transition mappings</a:t>
            </a: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Reactive Repository: Non-blocking CompletionStage interface (no blocking JDBC)</a:t>
            </a: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Bounded Context Boundaries: Intentionally minimalist aggregate (identity + lifecycle only) - separated TenantAdmin, BillingAccount, ServiceQuota into other contexts</a:t>
            </a:r>
            <a:endParaRPr/>
          </a:p>
          <a:p>
            <a:pPr marL="457200" lvl="0" indent="-34036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5 BDD Scenarios: Happy path, provisioning failures, invariant violations, state transition errors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Discoveries: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6-state machine (added DRAFT and FAILED states from Event Storming)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Separated technical provisioning failures (FAILED) from operational suspension (SUSPENDED)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Identified 7 downstream bounded contexts (UserManagement, Billing, ResourceManagement, Monitoring, InfrastructureACL)</a:t>
            </a: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Committed and Synced: Git push successful. Ready for Phase 1.4: Context Mapping?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 Mapping</a:t>
            </a:r>
            <a:endParaRPr/>
          </a:p>
        </p:txBody>
      </p:sp>
      <p:sp>
        <p:nvSpPr>
          <p:cNvPr id="507" name="Google Shape;507;p60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1.4: Context Mapping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Artifact Created: context-map.md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Discoveries: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 Bounded Contexts Identified: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TenantManagement (foundational - NO upstream dependencies)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UserManagement, Billing, ResourceManagement, Configuration (core domain)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Monitoring (supporting domain)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InfrastructureACL (anti-corruption layer for infrastructure provisioning)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Integration Patterns Defined: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Customer-Supplier: TenantManagement publishes events → 6 downstream contexts subscribe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Published Language: 7 domain events via Kafka (TenantCreated, TenantActivated,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Partnership: TenantManagement ↔ InfrastructureACL (bidirectional provisioning workflow)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Conformist: Downstream contexts query TenantManagement API (read-only)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Questions Deferred to Phase 2: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Should Billing prevent tenant archival if active subscription? (Dependency inversion decision)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Should downstream contexts use read models vs query API? (Performance/consistency trade-off)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Governance Gap Identified: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ADR-071: TenantManagement as Foundational Context (MEDIUM PRIORITY - defer to post-Phase 1)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Please see: doc/exhibits/context-map.md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Phase 1</a:t>
            </a:r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1.1: Event Storming (11 events, 6-state machine)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1.2: Ubiquitous Language (40+ terms)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1.3: Domain Modeling (Tenant aggregate v1.0.0)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1.4: Context Mapping (7 contexts, integration patterns)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Governance Documentation: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4 high-priority docs created (ADR-068, ADR-069, PDR-001, PDR-002)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⏳ 3 medium-priority docs deferred (ADR-070, ADR-071, PDR-003)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Issues Logged: Updated CEREMONY-ISSUES-LOG.md with Phase 1.4 observations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Git: Committed and pushed to remote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➡️ Next: Phase 2.1 - Three Amigos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Ready to begin BDD scenario creation. Would you like me to proceed with Phase 2.1 (Three Amigos ceremony)?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</a:t>
            </a:r>
            <a:endParaRPr/>
          </a:p>
        </p:txBody>
      </p:sp>
      <p:sp>
        <p:nvSpPr>
          <p:cNvPr id="521" name="Google Shape;521;p62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Please see: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doc/exhibits/tenant-metadata-queries.feature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doc/exhibits/tenant-provisioning.feature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63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2.3 Acceptance Criteria Review -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 Status: ✅ APPROVED - All 52 scenarios ready for Phase 3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Accomplished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Comprehensive Scenario Validation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Reviewed 52 BDD scenarios across 2 feature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Validated against: ubiquitous language, domain model, state machine, CHARTER, governance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scenarios pass 6 validation criteria (language, model alignment, commands/events, CHARTER, governance, testability)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Issues Identified &amp; Fixed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Issue #1-3: Updated tenant-provisioning.feature to three-tier identity (TenantId, TenantSlug, DisplayName)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Issue #4: Removed TODO scenarios (redundant placeholders from framework scaffold)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Issue #5: Clarified lastActivityAt timestamp automatically updated by updateMetadata()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Governance Documentation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Created PDR-003: Tenant extensibility via separate TenantAttributes bounded context (v2.0)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context map: Added TenantAttributes as PLANNED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Documented Design Decision #002: Skip Phase 2.2 Example Mapping (scenarios already comprehensive)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Domain Model Refinements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aggregate-tenant.md: Three-tier identity fields, updateMetadata() command, timestamp semantics table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16 "company name" references fixed to use TenantSlug + DisplayName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Email domain derivation clarified (from TenantSlug, not mutable DisplayName)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 Decision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2.2 Example Mapping: SKIPPED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Rationale: Example Mapping is designed to run BEFORE Three Amigos for complex stories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2.1 already complete with 52 comprehensive scenarios containing concrete examples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retrospective example mapping would be redundant documentation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 Outcomes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Scenario Approval: ✅ All 52 scenarios APPROVED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tenant-provisioning.feature: 17 scenarios (lifecycle state machine)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tenant-metadata-queries.feature: 35 scenarios (CPQ pattern)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Governance Compliance: ✅ 100%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PDR-001: Three-tier identity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ADR-072: OpenSearch integration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POL-036: CPQ pattern (not CRUD)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 Status: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2.1: Three Amigos 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2.2: Example Mapping ⏭️ (skipped)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2.3: Acceptance Criteria Review 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 Created/Updated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acceptance-criteria-review.md (comprehensive review report)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PDR-003-tenant-extensibility-via-tenant-attributes.md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tenant-provisioning.feature (fixed 16 terminology issues, removed TODO scenarios)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aggregate-tenant.md (three-tier identity, lastActivityAt semantics)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context-map.md (TenantAttributes as PLANNED)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CEREMONY-ISSUES-LOG.md (Design Decision #002, Phase 2.3 completion)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ROADMAP.md (already has TenantAttributes v2.0 epic)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Phase: Phase 3.1 - Test-First Pairing (Bench Developer role)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Ready to proceed to implementation? The 52 BDD scenarios are validated, domain model is refined, and all governance documentation is complete.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64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3.1 Test-First Pairing - COMPLETE ✅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Layer Implementation Complete: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Delivered (21 total):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 Value Objects: TenantId, TenantSlug, DisplayName, Description, ContactEmail, ContactPhone, ContactSMS, SuspensionReason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Enums: TenantStatus (6 states with state machine), SuspensionType (4 types)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Aggregate Root: Tenant (289 lines, 11 fields, 9 commands)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 Domain Events: TenantCreated, TenantProvisioningStarted, TenantProvisioningFailed, TenantActivated, TenantSuspended, TenantArchived, TenantMetadataUpdated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Repository Interface: TenantRepository (reactive, 6 methods)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Exception Classes: IllegalStateTransitionException, RETISIOTenantCannotBeSuspendedException, RETISIOTenantCannotBeArchivedException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Coverage: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 test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 tests (100% passing)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time: &lt; 5 seconds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RED-GREEN-REFACTOR cycle followed for all components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Features: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Three-tier identity: TenantId (UUID), TenantSlug (immutable), DisplayName (mutable)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Invariants enforced: Slug uniqueness, state transitions, retry limit (3), RETISIO protection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machine: 6 states (DRAFT, PROVISIONING, ACTIVE, SUSPENDED, FAILED, ARCHIVED), 13 transitions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Non-blocking: All repository methods return CompletionStage&lt;T&gt;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Event-driven: 7 domain events with factory methods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Ubiquitous language: Exact terminology from domain model throughout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Lessons Learned: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Mill 0.11.6 requires jupiter-interface dependency for JUnit 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Three-tier identity model works elegantly for different use cases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 machine in enum (canTransitionTo()) encapsulates logic cleanly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events as immutable records with factory methods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RETISIO protection with custom exceptions for platform tenant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Files Created/Updated: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src/main/java/com/retisio/tenant/domain/ (21 domain classes)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src/test/java/com/retisio/tenant/domain/ (11 test files)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CEREMONY-ISSUES-LOG.md (Phase 3.1 complete section)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Tenant.java (replaced old CompanyName scaffold)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TenantStatus.java (added full state machine)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Phase: Phase 3.2 - Property-Based Testing with jqwik for invariant verification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65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Phase 4.3 Living Documentation Sync -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of Changes: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README.md Updated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Removed "scaffolded" and "NOT production-ready" warnings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Updated status to "🟢 Production-Ready Domain Layer"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Documented all completed ceremonies (Phase 0-3 ✅, Phase 4 partial ✅)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Updated file structure showing complete domain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Updated spinoff validation: 7/13 checks passing (54%, domain layer complete)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Documented next steps: API layer → Infrastructure → Production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CEREMONY-ISSUES-LOG.md Updated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Marked Phase 4.3 as complete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Documented all tasks completed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Ready for next phase (4.4 requires API layer)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Accomplishments Documented: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124 tests passing (100 example + 24 property-based)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55 BDD scenarios (21 lifecycle + 34 CPQ)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100% code-to-model alignment (zero refactoring needed)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hours total delivery (8hrs ceremonies + 4hrs TDD)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Production quality achieved on first iteration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Ceremony-Driven Approach Validated: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README now highlights that the ceremony-based SDLC delivered: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Zero technical debt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major refactoring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Faster time-to-quality than "code first" approach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Complete domain model documentation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Phase: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4.4 (Cross-Boundary Integration Testing) is documented as TODO, requiring API layer implementation first.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6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Elements of Design 3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Governance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Planning &amp; Tracking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Packaging</a:t>
            </a:r>
            <a:endParaRPr sz="2700"/>
          </a:p>
        </p:txBody>
      </p:sp>
      <p:sp>
        <p:nvSpPr>
          <p:cNvPr id="548" name="Google Shape;548;p66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Elements of Design 3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7"/>
          <p:cNvSpPr txBox="1">
            <a:spLocks noGrp="1"/>
          </p:cNvSpPr>
          <p:nvPr>
            <p:ph type="body" idx="1"/>
          </p:nvPr>
        </p:nvSpPr>
        <p:spPr>
          <a:xfrm>
            <a:off x="838200" y="1219204"/>
            <a:ext cx="5181600" cy="490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ADR (Architecture Decision Records) - 3 files needed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ADR-056-supersede-maven-with-mill-for-jvm-builds.md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Supersedes ADR-026 (Maven), explains Mill adoption for both Java &amp; Scala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Fast incremental builds, Scala 3 support, parallel execution, simple build.sc syntax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Affects all backend services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ADR-057-scala-3-lts-for-functional-services.md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Define when/why Scala 3 vs Java 21 (both valid choices)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Scala 3 for: complex domain logic needing ADTs, ZIO/Cats Effect services, type-driven design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backend language choice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ADR-058-nextjs-with-ant-design-for-frontend.md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Frontend stack standardization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Next.js SSR/SSG, Ant Design component library, Yarn package management (never npm)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Affects all frontend services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6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Pass for Governance</a:t>
            </a:r>
            <a:endParaRPr/>
          </a:p>
        </p:txBody>
      </p:sp>
      <p:sp>
        <p:nvSpPr>
          <p:cNvPr id="556" name="Google Shape;556;p67"/>
          <p:cNvSpPr txBox="1">
            <a:spLocks noGrp="1"/>
          </p:cNvSpPr>
          <p:nvPr>
            <p:ph type="body" idx="2"/>
          </p:nvPr>
        </p:nvSpPr>
        <p:spPr>
          <a:xfrm>
            <a:off x="6172200" y="1219204"/>
            <a:ext cx="5181600" cy="490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 (Policy) - 2 files needed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POL-026-yarn-only-for-frontend-dependency-management.md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Enforce "never npm" policy with rationale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Yarn workspaces, lockfile determinism, npm scripts banned, CI/CD enforcement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All frontend developers, CI pipelines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POL-027-jvm-language-choice-java-17-plus-or-scala-3-plus.md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Constrain backend languages to Java 17+ OR Scala 3+ (No Python!)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LTS requirement rationale, Pekko compatibility, team skill matrix, polyglot boundary rules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All service architecture decisions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SBPF (Standards &amp; Best Practices) - 1 file recommended</a:t>
            </a:r>
            <a:endParaRPr/>
          </a:p>
          <a:p>
            <a:pPr marL="457200" lvl="0" indent="-32512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Mill-Scala3-Java21-Build-Guide.md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Practical guide for Mill multi-module builds with Java + Scala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build.sc examples, cross-compilation, Pekko integration, test frameworks, CI integration</a:t>
            </a:r>
            <a:endParaRPr/>
          </a:p>
          <a:p>
            <a:pPr marL="914400" lvl="1" indent="-313055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Developer productivity, onboarding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67"/>
          <p:cNvSpPr/>
          <p:nvPr/>
        </p:nvSpPr>
        <p:spPr>
          <a:xfrm rot="-695462" flipH="1">
            <a:off x="8196050" y="4176365"/>
            <a:ext cx="3789480" cy="2438970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COPILOT&gt; </a:t>
            </a:r>
            <a:endParaRPr sz="1200"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Varela Round"/>
                <a:ea typeface="Varela Round"/>
                <a:cs typeface="Varela Round"/>
                <a:sym typeface="Varela Round"/>
              </a:rPr>
              <a:t>For the backend, we should only use either java (LTS 17+) or scala (LTS 3+) and Mill to build them. For the front end we use Next.js and ant design with yern (never NPM). What new files do you recommend for doc/reference/SBPF, doc/governance/POL, doc/governance/PDR, and/or doc/governance/ADR based on this statement?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Placeholder</a:t>
            </a:r>
            <a:endParaRPr/>
          </a:p>
        </p:txBody>
      </p:sp>
      <p:sp>
        <p:nvSpPr>
          <p:cNvPr id="571" name="Google Shape;571;p69"/>
          <p:cNvSpPr txBox="1">
            <a:spLocks noGrp="1"/>
          </p:cNvSpPr>
          <p:nvPr>
            <p:ph type="body" idx="1"/>
          </p:nvPr>
        </p:nvSpPr>
        <p:spPr>
          <a:xfrm>
            <a:off x="838200" y="1130642"/>
            <a:ext cx="10515600" cy="509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 series of slides that drill down on: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//design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// targetPriority = Charter.ReleaseTargets.size()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For each target in Charter.ReleaseTargets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// target.Charter   = ProductOwner.Decompose(Charter, target)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// target.Charter += ProductOwner.DocumentFeatures()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target.Gap = Architect.GapAnalysis()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target.Gov = Architect.DocumentGovernance()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target.Tasks = ProgramManager.DocumentPlan(target)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Projects.insert(target, 10*Priority + targetPriority)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targetPriority = targetPriority - 1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 Tasks.insert(target.Tasks) // Task priority = Project priority + sum of dependant tasks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2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Testing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What not How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When not How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Testing as Design Verification</a:t>
            </a:r>
            <a:endParaRPr/>
          </a:p>
        </p:txBody>
      </p:sp>
      <p:sp>
        <p:nvSpPr>
          <p:cNvPr id="590" name="Google Shape;590;p72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4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Implementation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Design to Documentation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Exercising the Design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Validating the Design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Refining the Design</a:t>
            </a:r>
            <a:endParaRPr sz="2700"/>
          </a:p>
        </p:txBody>
      </p:sp>
      <p:sp>
        <p:nvSpPr>
          <p:cNvPr id="603" name="Google Shape;603;p74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7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The Trouble with LLMs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Understanding to Costing Model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World without RAG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Nondeterminism</a:t>
            </a: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3" name="Google Shape;623;p77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Trouble with LLMs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9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Size Matters</a:t>
            </a:r>
            <a:br>
              <a:rPr lang="en-US" sz="2800"/>
            </a:br>
            <a:endParaRPr sz="2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Managing Context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Managing Instructions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Managing Flow</a:t>
            </a:r>
            <a:endParaRPr sz="2400"/>
          </a:p>
        </p:txBody>
      </p:sp>
      <p:sp>
        <p:nvSpPr>
          <p:cNvPr id="636" name="Google Shape;636;p79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Size Matters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1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Documentation Revisited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The New Assembly Line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The New Software Engineer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Skills that Carry Over</a:t>
            </a:r>
            <a:endParaRPr/>
          </a:p>
        </p:txBody>
      </p:sp>
      <p:sp>
        <p:nvSpPr>
          <p:cNvPr id="651" name="Google Shape;651;p81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Revisited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3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Modeling for Tasks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Copilot Instructions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4" name="Google Shape;664;p83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for Tasks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5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Ask, Plan, Edit, Agent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&amp; How to Ask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Then Edit or Agent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&amp; How to Plan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Then Edit or Agent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7" name="Google Shape;677;p85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Ask, Plan, Edit, Agent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7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Model Context Protocol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MCP Overview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Incorporating MCP Servers in Workstreams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MCP Topics to Explore</a:t>
            </a:r>
            <a:endParaRPr sz="2400"/>
          </a:p>
        </p:txBody>
      </p:sp>
      <p:sp>
        <p:nvSpPr>
          <p:cNvPr id="690" name="Google Shape;690;p87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Context Protocol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9"/>
          <p:cNvSpPr txBox="1">
            <a:spLocks noGrp="1"/>
          </p:cNvSpPr>
          <p:nvPr>
            <p:ph type="body" idx="1"/>
          </p:nvPr>
        </p:nvSpPr>
        <p:spPr>
          <a:xfrm>
            <a:off x="6571739" y="1"/>
            <a:ext cx="5620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Change is the Only Constant</a:t>
            </a:r>
            <a:endParaRPr sz="2800"/>
          </a:p>
          <a:p>
            <a:pPr marL="228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Managing Model Change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Managing Copilot Changes</a:t>
            </a:r>
            <a:endParaRPr sz="2400"/>
          </a:p>
        </p:txBody>
      </p:sp>
      <p:sp>
        <p:nvSpPr>
          <p:cNvPr id="703" name="Google Shape;703;p89"/>
          <p:cNvSpPr txBox="1">
            <a:spLocks noGrp="1"/>
          </p:cNvSpPr>
          <p:nvPr>
            <p:ph type="title"/>
          </p:nvPr>
        </p:nvSpPr>
        <p:spPr>
          <a:xfrm>
            <a:off x="673884" y="2255914"/>
            <a:ext cx="52578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Change is the Only Constant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9855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7"/>
          <p:cNvSpPr/>
          <p:nvPr/>
        </p:nvSpPr>
        <p:spPr>
          <a:xfrm>
            <a:off x="6745574" y="2861352"/>
            <a:ext cx="434715" cy="567645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7" name="Google Shape;767;p97"/>
          <p:cNvSpPr/>
          <p:nvPr/>
        </p:nvSpPr>
        <p:spPr>
          <a:xfrm rot="-8028076">
            <a:off x="4508293" y="2451277"/>
            <a:ext cx="1321364" cy="820153"/>
          </a:xfrm>
          <a:prstGeom prst="teardrop">
            <a:avLst>
              <a:gd name="adj" fmla="val 20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8" name="Google Shape;768;p97"/>
          <p:cNvSpPr/>
          <p:nvPr/>
        </p:nvSpPr>
        <p:spPr>
          <a:xfrm>
            <a:off x="0" y="-34616"/>
            <a:ext cx="6618514" cy="6892616"/>
          </a:xfrm>
          <a:prstGeom prst="homePlate">
            <a:avLst>
              <a:gd name="adj" fmla="val 20519"/>
            </a:avLst>
          </a:prstGeom>
          <a:solidFill>
            <a:srgbClr val="203C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RETISIO Commerce Cloud</a:t>
            </a:r>
            <a:endParaRPr/>
          </a:p>
        </p:txBody>
      </p:sp>
      <p:sp>
        <p:nvSpPr>
          <p:cNvPr id="769" name="Google Shape;769;p97"/>
          <p:cNvSpPr txBox="1"/>
          <p:nvPr/>
        </p:nvSpPr>
        <p:spPr>
          <a:xfrm>
            <a:off x="6269759" y="3098816"/>
            <a:ext cx="61032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Varela Round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Dartmouth Intelligence Platform </a:t>
            </a:r>
            <a:endParaRPr/>
          </a:p>
        </p:txBody>
      </p:sp>
      <p:sp>
        <p:nvSpPr>
          <p:cNvPr id="770" name="Google Shape;770;p97"/>
          <p:cNvSpPr/>
          <p:nvPr/>
        </p:nvSpPr>
        <p:spPr>
          <a:xfrm>
            <a:off x="-14288" y="-25398"/>
            <a:ext cx="12206288" cy="6892616"/>
          </a:xfrm>
          <a:prstGeom prst="rect">
            <a:avLst/>
          </a:prstGeom>
          <a:gradFill>
            <a:gsLst>
              <a:gs pos="0">
                <a:srgbClr val="203C70"/>
              </a:gs>
              <a:gs pos="6000">
                <a:srgbClr val="203C70"/>
              </a:gs>
              <a:gs pos="100000">
                <a:srgbClr val="0B985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771" name="Google Shape;771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170" y="1283463"/>
            <a:ext cx="10022115" cy="428921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97"/>
          <p:cNvSpPr txBox="1"/>
          <p:nvPr/>
        </p:nvSpPr>
        <p:spPr>
          <a:xfrm>
            <a:off x="911185" y="5629881"/>
            <a:ext cx="1002211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Accelerate Revenue Growth</a:t>
            </a:r>
            <a:endParaRPr sz="1800" b="0" i="0" u="none" strike="noStrike" cap="non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773" name="Google Shape;773;p97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3165" y="69381"/>
            <a:ext cx="2431382" cy="119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isio">
  <a:themeElements>
    <a:clrScheme name="Custom 2">
      <a:dk1>
        <a:srgbClr val="002C74"/>
      </a:dk1>
      <a:lt1>
        <a:srgbClr val="FFFFFF"/>
      </a:lt1>
      <a:dk2>
        <a:srgbClr val="1A468C"/>
      </a:dk2>
      <a:lt2>
        <a:srgbClr val="E7E6E6"/>
      </a:lt2>
      <a:accent1>
        <a:srgbClr val="203C70"/>
      </a:accent1>
      <a:accent2>
        <a:srgbClr val="0B9655"/>
      </a:accent2>
      <a:accent3>
        <a:srgbClr val="FCC010"/>
      </a:accent3>
      <a:accent4>
        <a:srgbClr val="2DB14E"/>
      </a:accent4>
      <a:accent5>
        <a:srgbClr val="EC1E23"/>
      </a:accent5>
      <a:accent6>
        <a:srgbClr val="FFD478"/>
      </a:accent6>
      <a:hlink>
        <a:srgbClr val="407AA9"/>
      </a:hlink>
      <a:folHlink>
        <a:srgbClr val="002C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50</Slides>
  <Notes>50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Retisio</vt:lpstr>
      <vt:lpstr>RETISIO Inc.</vt:lpstr>
      <vt:lpstr>Updated Mindset</vt:lpstr>
      <vt:lpstr>The Body Shop is Dead</vt:lpstr>
      <vt:lpstr>The New Software Engineer…</vt:lpstr>
      <vt:lpstr>But I’m not a…</vt:lpstr>
      <vt:lpstr>But what does it mean to be an Architect</vt:lpstr>
      <vt:lpstr>What Do I need to know about…</vt:lpstr>
      <vt:lpstr>ToDo Lists for Automation</vt:lpstr>
      <vt:lpstr>Documenting Intent and Goals</vt:lpstr>
      <vt:lpstr>State the Obvious</vt:lpstr>
      <vt:lpstr>Candidate Charter - First Pass</vt:lpstr>
      <vt:lpstr>Charter Refinement</vt:lpstr>
      <vt:lpstr>Project Refinement</vt:lpstr>
      <vt:lpstr>Decomposing Charters</vt:lpstr>
      <vt:lpstr>Gantt Chart of Decomposed Project (Mermaid)</vt:lpstr>
      <vt:lpstr>Taking Small Bites</vt:lpstr>
      <vt:lpstr>Taking Small Bites</vt:lpstr>
      <vt:lpstr>How We Work</vt:lpstr>
      <vt:lpstr>DDD: Modeling the Core Business Problem</vt:lpstr>
      <vt:lpstr>BDD: Defining Desired Outcomes and Behavior</vt:lpstr>
      <vt:lpstr>TDD: The Cycle of Red, Green, Refactor</vt:lpstr>
      <vt:lpstr>Synergy: A Comprehensive Approach to Design</vt:lpstr>
      <vt:lpstr>Three Pillars - Ceremony-Driven Playbook</vt:lpstr>
      <vt:lpstr>Ceremony-Driven Playbook</vt:lpstr>
      <vt:lpstr>Role Overview</vt:lpstr>
      <vt:lpstr>Important Flows</vt:lpstr>
      <vt:lpstr>Working Faster</vt:lpstr>
      <vt:lpstr>Event Storming</vt:lpstr>
      <vt:lpstr>Event Storming</vt:lpstr>
      <vt:lpstr>Ubiquitous Language</vt:lpstr>
      <vt:lpstr>Domain Modeling</vt:lpstr>
      <vt:lpstr>Context Mapping</vt:lpstr>
      <vt:lpstr>End of Phase 1</vt:lpstr>
      <vt:lpstr>2.1</vt:lpstr>
      <vt:lpstr>PowerPoint Presentation</vt:lpstr>
      <vt:lpstr>PowerPoint Presentation</vt:lpstr>
      <vt:lpstr>PowerPoint Presentation</vt:lpstr>
      <vt:lpstr>Elements of Design 3</vt:lpstr>
      <vt:lpstr>First Pass for Governance</vt:lpstr>
      <vt:lpstr>Placeholder</vt:lpstr>
      <vt:lpstr>Testing</vt:lpstr>
      <vt:lpstr>Implementation</vt:lpstr>
      <vt:lpstr>The Trouble with LLMs</vt:lpstr>
      <vt:lpstr>Size Matters</vt:lpstr>
      <vt:lpstr>Documentation Revisited</vt:lpstr>
      <vt:lpstr>Modeling for Tasks</vt:lpstr>
      <vt:lpstr>Ask, Plan, Edit, Agent</vt:lpstr>
      <vt:lpstr>Model Context Protocol</vt:lpstr>
      <vt:lpstr>Change is the Only Constant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</cp:revision>
  <dcterms:modified xsi:type="dcterms:W3CDTF">2025-12-21T23:47:27Z</dcterms:modified>
</cp:coreProperties>
</file>